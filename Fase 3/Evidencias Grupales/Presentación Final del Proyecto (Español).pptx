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DM Serif Display" pitchFamily="2" charset="0"/>
      <p:regular r:id="rId15"/>
    </p:embeddedFont>
    <p:embeddedFont>
      <p:font typeface="Hammersmith One" panose="02010703030501060504" pitchFamily="2" charset="0"/>
      <p:regular r:id="rId16"/>
    </p:embeddedFont>
    <p:embeddedFont>
      <p:font typeface="Touvlo" panose="020B0604020202020204" charset="0"/>
      <p:regular r:id="rId17"/>
    </p:embeddedFont>
    <p:embeddedFont>
      <p:font typeface="Touvlo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62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2" Type="http://schemas.openxmlformats.org/officeDocument/2006/relationships/image" Target="../media/image16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3.sv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1" Type="http://schemas.openxmlformats.org/officeDocument/2006/relationships/image" Target="../media/image3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3.pn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3.png"/><Relationship Id="rId5" Type="http://schemas.openxmlformats.org/officeDocument/2006/relationships/image" Target="../media/image56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7.svg"/><Relationship Id="rId5" Type="http://schemas.openxmlformats.org/officeDocument/2006/relationships/image" Target="../media/image72.sv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13" Type="http://schemas.openxmlformats.org/officeDocument/2006/relationships/image" Target="../media/image89.png"/><Relationship Id="rId18" Type="http://schemas.openxmlformats.org/officeDocument/2006/relationships/image" Target="../media/image91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17" Type="http://schemas.openxmlformats.org/officeDocument/2006/relationships/image" Target="../media/image77.svg"/><Relationship Id="rId2" Type="http://schemas.openxmlformats.org/officeDocument/2006/relationships/image" Target="../media/image78.png"/><Relationship Id="rId16" Type="http://schemas.openxmlformats.org/officeDocument/2006/relationships/image" Target="../media/image76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svg"/><Relationship Id="rId15" Type="http://schemas.openxmlformats.org/officeDocument/2006/relationships/image" Target="../media/image3.png"/><Relationship Id="rId10" Type="http://schemas.openxmlformats.org/officeDocument/2006/relationships/image" Target="../media/image86.svg"/><Relationship Id="rId19" Type="http://schemas.openxmlformats.org/officeDocument/2006/relationships/image" Target="../media/image92.sv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95.sv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hyperlink" Target="http://127.0.0.1:8000" TargetMode="External"/><Relationship Id="rId5" Type="http://schemas.openxmlformats.org/officeDocument/2006/relationships/image" Target="../media/image97.svg"/><Relationship Id="rId10" Type="http://schemas.openxmlformats.org/officeDocument/2006/relationships/image" Target="../media/image101.png"/><Relationship Id="rId4" Type="http://schemas.openxmlformats.org/officeDocument/2006/relationships/image" Target="../media/image96.pn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svg"/><Relationship Id="rId7" Type="http://schemas.openxmlformats.org/officeDocument/2006/relationships/image" Target="../media/image107.sv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3.png"/><Relationship Id="rId5" Type="http://schemas.openxmlformats.org/officeDocument/2006/relationships/image" Target="../media/image105.svg"/><Relationship Id="rId10" Type="http://schemas.openxmlformats.org/officeDocument/2006/relationships/image" Target="../media/image4.png"/><Relationship Id="rId4" Type="http://schemas.openxmlformats.org/officeDocument/2006/relationships/image" Target="../media/image104.png"/><Relationship Id="rId9" Type="http://schemas.openxmlformats.org/officeDocument/2006/relationships/image" Target="../media/image10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3.svg"/><Relationship Id="rId7" Type="http://schemas.openxmlformats.org/officeDocument/2006/relationships/image" Target="../media/image113.sv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sv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AB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84746" y="3002855"/>
            <a:ext cx="14626191" cy="5024355"/>
            <a:chOff x="0" y="0"/>
            <a:chExt cx="19501588" cy="669914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984733" cy="4521964"/>
              <a:chOff x="0" y="0"/>
              <a:chExt cx="2959947" cy="89322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959947" cy="893227"/>
              </a:xfrm>
              <a:custGeom>
                <a:avLst/>
                <a:gdLst/>
                <a:ahLst/>
                <a:cxnLst/>
                <a:rect l="l" t="t" r="r" b="b"/>
                <a:pathLst>
                  <a:path w="2959947" h="893227">
                    <a:moveTo>
                      <a:pt x="15155" y="0"/>
                    </a:moveTo>
                    <a:lnTo>
                      <a:pt x="2944792" y="0"/>
                    </a:lnTo>
                    <a:cubicBezTo>
                      <a:pt x="2948811" y="0"/>
                      <a:pt x="2952666" y="1597"/>
                      <a:pt x="2955508" y="4439"/>
                    </a:cubicBezTo>
                    <a:cubicBezTo>
                      <a:pt x="2958351" y="7281"/>
                      <a:pt x="2959947" y="11136"/>
                      <a:pt x="2959947" y="15155"/>
                    </a:cubicBezTo>
                    <a:lnTo>
                      <a:pt x="2959947" y="878072"/>
                    </a:lnTo>
                    <a:cubicBezTo>
                      <a:pt x="2959947" y="886442"/>
                      <a:pt x="2953162" y="893227"/>
                      <a:pt x="2944792" y="893227"/>
                    </a:cubicBezTo>
                    <a:lnTo>
                      <a:pt x="15155" y="893227"/>
                    </a:lnTo>
                    <a:cubicBezTo>
                      <a:pt x="11136" y="893227"/>
                      <a:pt x="7281" y="891631"/>
                      <a:pt x="4439" y="888789"/>
                    </a:cubicBezTo>
                    <a:cubicBezTo>
                      <a:pt x="1597" y="885947"/>
                      <a:pt x="0" y="882092"/>
                      <a:pt x="0" y="878072"/>
                    </a:cubicBezTo>
                    <a:lnTo>
                      <a:pt x="0" y="15155"/>
                    </a:lnTo>
                    <a:cubicBezTo>
                      <a:pt x="0" y="11136"/>
                      <a:pt x="1597" y="7281"/>
                      <a:pt x="4439" y="4439"/>
                    </a:cubicBezTo>
                    <a:cubicBezTo>
                      <a:pt x="7281" y="1597"/>
                      <a:pt x="11136" y="0"/>
                      <a:pt x="15155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959947" cy="9313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989181" y="247887"/>
              <a:ext cx="15512407" cy="6451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56"/>
                </a:lnSpc>
              </a:pPr>
              <a:r>
                <a:rPr lang="en-US" sz="12326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MiPC</a:t>
              </a:r>
              <a:r>
                <a:rPr lang="en-US" sz="12326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 Ideal</a:t>
              </a:r>
            </a:p>
            <a:p>
              <a:pPr algn="l">
                <a:lnSpc>
                  <a:spcPts val="3961"/>
                </a:lnSpc>
              </a:pPr>
              <a:r>
                <a:rPr lang="en-US" sz="282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      </a:t>
              </a:r>
              <a:r>
                <a:rPr lang="en-US" sz="2829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Recomendador</a:t>
              </a:r>
              <a:r>
                <a:rPr lang="en-US" sz="282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 editorial de hardware</a:t>
              </a:r>
            </a:p>
            <a:p>
              <a:pPr algn="l">
                <a:lnSpc>
                  <a:spcPts val="20792"/>
                </a:lnSpc>
              </a:pPr>
              <a:endParaRPr lang="en-US" sz="2829" dirty="0">
                <a:solidFill>
                  <a:srgbClr val="303030"/>
                </a:solidFill>
                <a:latin typeface="DM Serif Display"/>
                <a:ea typeface="DM Serif Display"/>
                <a:cs typeface="DM Serif Display"/>
                <a:sym typeface="DM Serif Display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84028" y="-187195"/>
            <a:ext cx="5401691" cy="10661390"/>
            <a:chOff x="0" y="0"/>
            <a:chExt cx="1422668" cy="28079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2668" cy="2807938"/>
            </a:xfrm>
            <a:custGeom>
              <a:avLst/>
              <a:gdLst/>
              <a:ahLst/>
              <a:cxnLst/>
              <a:rect l="l" t="t" r="r" b="b"/>
              <a:pathLst>
                <a:path w="1422668" h="2807938">
                  <a:moveTo>
                    <a:pt x="0" y="0"/>
                  </a:moveTo>
                  <a:lnTo>
                    <a:pt x="1422668" y="0"/>
                  </a:lnTo>
                  <a:lnTo>
                    <a:pt x="1422668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F0DFC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22668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265097" y="3179683"/>
            <a:ext cx="6331273" cy="5352803"/>
          </a:xfrm>
          <a:custGeom>
            <a:avLst/>
            <a:gdLst/>
            <a:ahLst/>
            <a:cxnLst/>
            <a:rect l="l" t="t" r="r" b="b"/>
            <a:pathLst>
              <a:path w="6331273" h="5352803">
                <a:moveTo>
                  <a:pt x="0" y="0"/>
                </a:moveTo>
                <a:lnTo>
                  <a:pt x="6331273" y="0"/>
                </a:lnTo>
                <a:lnTo>
                  <a:pt x="6331273" y="5352804"/>
                </a:lnTo>
                <a:lnTo>
                  <a:pt x="0" y="535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028700" y="102870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3241444" y="4084566"/>
            <a:ext cx="2378577" cy="2117867"/>
          </a:xfrm>
          <a:custGeom>
            <a:avLst/>
            <a:gdLst/>
            <a:ahLst/>
            <a:cxnLst/>
            <a:rect l="l" t="t" r="r" b="b"/>
            <a:pathLst>
              <a:path w="2378577" h="2117867">
                <a:moveTo>
                  <a:pt x="0" y="0"/>
                </a:moveTo>
                <a:lnTo>
                  <a:pt x="2378578" y="0"/>
                </a:lnTo>
                <a:lnTo>
                  <a:pt x="2378578" y="2117868"/>
                </a:lnTo>
                <a:lnTo>
                  <a:pt x="0" y="2117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539384" y="7664085"/>
            <a:ext cx="10078937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Touvlo Bold"/>
                <a:ea typeface="Touvlo Bold"/>
                <a:cs typeface="Touvlo Bold"/>
                <a:sym typeface="Touvlo Bold"/>
              </a:rPr>
              <a:t>Asignatura:</a:t>
            </a:r>
            <a:r>
              <a:rPr lang="en-US" sz="18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CAPSTONE 002D</a:t>
            </a:r>
          </a:p>
          <a:p>
            <a:pPr algn="just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Touvlo Bold"/>
                <a:ea typeface="Touvlo Bold"/>
                <a:cs typeface="Touvlo Bold"/>
                <a:sym typeface="Touvlo Bold"/>
              </a:rPr>
              <a:t>Docente:</a:t>
            </a:r>
            <a:r>
              <a:rPr lang="en-US" sz="18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Jorge Castro</a:t>
            </a:r>
          </a:p>
          <a:p>
            <a:pPr algn="just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Touvlo Bold"/>
                <a:ea typeface="Touvlo Bold"/>
                <a:cs typeface="Touvlo Bold"/>
                <a:sym typeface="Touvlo Bold"/>
              </a:rPr>
              <a:t>Integrantes:</a:t>
            </a:r>
            <a:r>
              <a:rPr lang="en-US" sz="18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Cristian Nuñez - Carlos Saavedra</a:t>
            </a:r>
          </a:p>
          <a:p>
            <a:pPr algn="just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7531" y="-521169"/>
            <a:ext cx="13595381" cy="11353982"/>
            <a:chOff x="0" y="0"/>
            <a:chExt cx="3580677" cy="29903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0676" cy="2990349"/>
            </a:xfrm>
            <a:custGeom>
              <a:avLst/>
              <a:gdLst/>
              <a:ahLst/>
              <a:cxnLst/>
              <a:rect l="l" t="t" r="r" b="b"/>
              <a:pathLst>
                <a:path w="3580676" h="2990349">
                  <a:moveTo>
                    <a:pt x="0" y="0"/>
                  </a:moveTo>
                  <a:lnTo>
                    <a:pt x="3580676" y="0"/>
                  </a:lnTo>
                  <a:lnTo>
                    <a:pt x="3580676" y="2990349"/>
                  </a:lnTo>
                  <a:lnTo>
                    <a:pt x="0" y="2990349"/>
                  </a:lnTo>
                  <a:close/>
                </a:path>
              </a:pathLst>
            </a:custGeom>
            <a:solidFill>
              <a:srgbClr val="51AB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80677" cy="3028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73277" y="6086545"/>
            <a:ext cx="3529410" cy="2319901"/>
            <a:chOff x="0" y="0"/>
            <a:chExt cx="929557" cy="6110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9557" cy="611003"/>
            </a:xfrm>
            <a:custGeom>
              <a:avLst/>
              <a:gdLst/>
              <a:ahLst/>
              <a:cxnLst/>
              <a:rect l="l" t="t" r="r" b="b"/>
              <a:pathLst>
                <a:path w="929557" h="611003">
                  <a:moveTo>
                    <a:pt x="48258" y="0"/>
                  </a:moveTo>
                  <a:lnTo>
                    <a:pt x="881299" y="0"/>
                  </a:lnTo>
                  <a:cubicBezTo>
                    <a:pt x="907951" y="0"/>
                    <a:pt x="929557" y="21606"/>
                    <a:pt x="929557" y="48258"/>
                  </a:cubicBezTo>
                  <a:lnTo>
                    <a:pt x="929557" y="562745"/>
                  </a:lnTo>
                  <a:cubicBezTo>
                    <a:pt x="929557" y="589397"/>
                    <a:pt x="907951" y="611003"/>
                    <a:pt x="881299" y="611003"/>
                  </a:cubicBezTo>
                  <a:lnTo>
                    <a:pt x="48258" y="611003"/>
                  </a:lnTo>
                  <a:cubicBezTo>
                    <a:pt x="21606" y="611003"/>
                    <a:pt x="0" y="589397"/>
                    <a:pt x="0" y="562745"/>
                  </a:cubicBezTo>
                  <a:lnTo>
                    <a:pt x="0" y="48258"/>
                  </a:lnTo>
                  <a:cubicBezTo>
                    <a:pt x="0" y="21606"/>
                    <a:pt x="21606" y="0"/>
                    <a:pt x="482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29557" cy="649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70118" y="6086545"/>
            <a:ext cx="3529410" cy="2319901"/>
            <a:chOff x="0" y="0"/>
            <a:chExt cx="929557" cy="611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9557" cy="611003"/>
            </a:xfrm>
            <a:custGeom>
              <a:avLst/>
              <a:gdLst/>
              <a:ahLst/>
              <a:cxnLst/>
              <a:rect l="l" t="t" r="r" b="b"/>
              <a:pathLst>
                <a:path w="929557" h="611003">
                  <a:moveTo>
                    <a:pt x="48258" y="0"/>
                  </a:moveTo>
                  <a:lnTo>
                    <a:pt x="881299" y="0"/>
                  </a:lnTo>
                  <a:cubicBezTo>
                    <a:pt x="907951" y="0"/>
                    <a:pt x="929557" y="21606"/>
                    <a:pt x="929557" y="48258"/>
                  </a:cubicBezTo>
                  <a:lnTo>
                    <a:pt x="929557" y="562745"/>
                  </a:lnTo>
                  <a:cubicBezTo>
                    <a:pt x="929557" y="589397"/>
                    <a:pt x="907951" y="611003"/>
                    <a:pt x="881299" y="611003"/>
                  </a:cubicBezTo>
                  <a:lnTo>
                    <a:pt x="48258" y="611003"/>
                  </a:lnTo>
                  <a:cubicBezTo>
                    <a:pt x="21606" y="611003"/>
                    <a:pt x="0" y="589397"/>
                    <a:pt x="0" y="562745"/>
                  </a:cubicBezTo>
                  <a:lnTo>
                    <a:pt x="0" y="48258"/>
                  </a:lnTo>
                  <a:cubicBezTo>
                    <a:pt x="0" y="21606"/>
                    <a:pt x="21606" y="0"/>
                    <a:pt x="482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9557" cy="649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066960" y="6086545"/>
            <a:ext cx="3529410" cy="2319901"/>
            <a:chOff x="0" y="0"/>
            <a:chExt cx="929557" cy="611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9557" cy="611003"/>
            </a:xfrm>
            <a:custGeom>
              <a:avLst/>
              <a:gdLst/>
              <a:ahLst/>
              <a:cxnLst/>
              <a:rect l="l" t="t" r="r" b="b"/>
              <a:pathLst>
                <a:path w="929557" h="611003">
                  <a:moveTo>
                    <a:pt x="48258" y="0"/>
                  </a:moveTo>
                  <a:lnTo>
                    <a:pt x="881299" y="0"/>
                  </a:lnTo>
                  <a:cubicBezTo>
                    <a:pt x="907951" y="0"/>
                    <a:pt x="929557" y="21606"/>
                    <a:pt x="929557" y="48258"/>
                  </a:cubicBezTo>
                  <a:lnTo>
                    <a:pt x="929557" y="562745"/>
                  </a:lnTo>
                  <a:cubicBezTo>
                    <a:pt x="929557" y="589397"/>
                    <a:pt x="907951" y="611003"/>
                    <a:pt x="881299" y="611003"/>
                  </a:cubicBezTo>
                  <a:lnTo>
                    <a:pt x="48258" y="611003"/>
                  </a:lnTo>
                  <a:cubicBezTo>
                    <a:pt x="21606" y="611003"/>
                    <a:pt x="0" y="589397"/>
                    <a:pt x="0" y="562745"/>
                  </a:cubicBezTo>
                  <a:lnTo>
                    <a:pt x="0" y="48258"/>
                  </a:lnTo>
                  <a:cubicBezTo>
                    <a:pt x="0" y="21606"/>
                    <a:pt x="21606" y="0"/>
                    <a:pt x="482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9557" cy="649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03873" y="6267856"/>
            <a:ext cx="11024097" cy="1983645"/>
            <a:chOff x="0" y="0"/>
            <a:chExt cx="14698796" cy="2644861"/>
          </a:xfrm>
        </p:grpSpPr>
        <p:sp>
          <p:nvSpPr>
            <p:cNvPr id="15" name="Freeform 15"/>
            <p:cNvSpPr/>
            <p:nvPr/>
          </p:nvSpPr>
          <p:spPr>
            <a:xfrm>
              <a:off x="1432668" y="0"/>
              <a:ext cx="1563367" cy="1256408"/>
            </a:xfrm>
            <a:custGeom>
              <a:avLst/>
              <a:gdLst/>
              <a:ahLst/>
              <a:cxnLst/>
              <a:rect l="l" t="t" r="r" b="b"/>
              <a:pathLst>
                <a:path w="1563367" h="1256409">
                  <a:moveTo>
                    <a:pt x="0" y="0"/>
                  </a:moveTo>
                  <a:lnTo>
                    <a:pt x="1563367" y="0"/>
                  </a:lnTo>
                  <a:lnTo>
                    <a:pt x="1563367" y="1256409"/>
                  </a:lnTo>
                  <a:lnTo>
                    <a:pt x="0" y="1256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389474"/>
              <a:ext cx="3978411" cy="1255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2"/>
                </a:lnSpc>
              </a:pPr>
              <a:r>
                <a:rPr lang="en-US" sz="2044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DEMANDA A LA MEDIDA</a:t>
              </a:r>
            </a:p>
            <a:p>
              <a:pPr algn="ctr">
                <a:lnSpc>
                  <a:spcPts val="2302"/>
                </a:lnSpc>
              </a:pP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El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usuario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requiere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equipos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por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perfil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de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uso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518364" y="0"/>
              <a:ext cx="1321271" cy="1256409"/>
            </a:xfrm>
            <a:custGeom>
              <a:avLst/>
              <a:gdLst/>
              <a:ahLst/>
              <a:cxnLst/>
              <a:rect l="l" t="t" r="r" b="b"/>
              <a:pathLst>
                <a:path w="1321271" h="1256409">
                  <a:moveTo>
                    <a:pt x="0" y="0"/>
                  </a:moveTo>
                  <a:lnTo>
                    <a:pt x="1321271" y="0"/>
                  </a:lnTo>
                  <a:lnTo>
                    <a:pt x="1321271" y="1256409"/>
                  </a:lnTo>
                  <a:lnTo>
                    <a:pt x="0" y="1256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97360" y="1389474"/>
              <a:ext cx="3963279" cy="1255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2"/>
                </a:lnSpc>
              </a:pPr>
              <a:r>
                <a:rPr lang="en-US" sz="2044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BARRERA DEL LENGUAJE</a:t>
              </a:r>
            </a:p>
            <a:p>
              <a:pPr algn="ctr">
                <a:lnSpc>
                  <a:spcPts val="2302"/>
                </a:lnSpc>
              </a:pP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Exceso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de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jerga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confunde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al no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experto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98128" y="0"/>
              <a:ext cx="1852613" cy="1256409"/>
            </a:xfrm>
            <a:custGeom>
              <a:avLst/>
              <a:gdLst/>
              <a:ahLst/>
              <a:cxnLst/>
              <a:rect l="l" t="t" r="r" b="b"/>
              <a:pathLst>
                <a:path w="1852613" h="1256409">
                  <a:moveTo>
                    <a:pt x="0" y="0"/>
                  </a:moveTo>
                  <a:lnTo>
                    <a:pt x="1852614" y="0"/>
                  </a:lnTo>
                  <a:lnTo>
                    <a:pt x="1852614" y="1256409"/>
                  </a:lnTo>
                  <a:lnTo>
                    <a:pt x="0" y="1256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77717" y="1389474"/>
              <a:ext cx="4521079" cy="1255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62"/>
                </a:lnSpc>
              </a:pPr>
              <a:r>
                <a:rPr lang="en-US" sz="2044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EL PUENTE INEXISTENTE</a:t>
              </a:r>
            </a:p>
            <a:p>
              <a:pPr algn="ctr">
                <a:lnSpc>
                  <a:spcPts val="2302"/>
                </a:lnSpc>
              </a:pP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Conexión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entre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Necesidad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644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Configuración</a:t>
              </a:r>
              <a:r>
                <a:rPr lang="en-US" sz="1644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0030" y="2178974"/>
            <a:ext cx="3597979" cy="6445890"/>
            <a:chOff x="0" y="0"/>
            <a:chExt cx="4797305" cy="8594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97305" cy="8594520"/>
            </a:xfrm>
            <a:custGeom>
              <a:avLst/>
              <a:gdLst/>
              <a:ahLst/>
              <a:cxnLst/>
              <a:rect l="l" t="t" r="r" b="b"/>
              <a:pathLst>
                <a:path w="4797305" h="8594520">
                  <a:moveTo>
                    <a:pt x="0" y="0"/>
                  </a:moveTo>
                  <a:lnTo>
                    <a:pt x="4797305" y="0"/>
                  </a:lnTo>
                  <a:lnTo>
                    <a:pt x="4797305" y="8594520"/>
                  </a:lnTo>
                  <a:lnTo>
                    <a:pt x="0" y="8594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950786" y="2620931"/>
              <a:ext cx="2895732" cy="2552817"/>
            </a:xfrm>
            <a:custGeom>
              <a:avLst/>
              <a:gdLst/>
              <a:ahLst/>
              <a:cxnLst/>
              <a:rect l="l" t="t" r="r" b="b"/>
              <a:pathLst>
                <a:path w="2895732" h="2552817">
                  <a:moveTo>
                    <a:pt x="0" y="0"/>
                  </a:moveTo>
                  <a:lnTo>
                    <a:pt x="2895733" y="0"/>
                  </a:lnTo>
                  <a:lnTo>
                    <a:pt x="2895733" y="2552816"/>
                  </a:lnTo>
                  <a:lnTo>
                    <a:pt x="0" y="255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19787" y="1752027"/>
            <a:ext cx="12063125" cy="3391473"/>
            <a:chOff x="0" y="0"/>
            <a:chExt cx="16084167" cy="4521964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6084167" cy="4521964"/>
              <a:chOff x="0" y="0"/>
              <a:chExt cx="3177119" cy="89322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177119" cy="893227"/>
              </a:xfrm>
              <a:custGeom>
                <a:avLst/>
                <a:gdLst/>
                <a:ahLst/>
                <a:cxnLst/>
                <a:rect l="l" t="t" r="r" b="b"/>
                <a:pathLst>
                  <a:path w="3177119" h="893227">
                    <a:moveTo>
                      <a:pt x="14119" y="0"/>
                    </a:moveTo>
                    <a:lnTo>
                      <a:pt x="3163000" y="0"/>
                    </a:lnTo>
                    <a:cubicBezTo>
                      <a:pt x="3166745" y="0"/>
                      <a:pt x="3170336" y="1488"/>
                      <a:pt x="3172984" y="4135"/>
                    </a:cubicBezTo>
                    <a:cubicBezTo>
                      <a:pt x="3175632" y="6783"/>
                      <a:pt x="3177119" y="10375"/>
                      <a:pt x="3177119" y="14119"/>
                    </a:cubicBezTo>
                    <a:lnTo>
                      <a:pt x="3177119" y="879108"/>
                    </a:lnTo>
                    <a:cubicBezTo>
                      <a:pt x="3177119" y="882853"/>
                      <a:pt x="3175632" y="886444"/>
                      <a:pt x="3172984" y="889092"/>
                    </a:cubicBezTo>
                    <a:cubicBezTo>
                      <a:pt x="3170336" y="891740"/>
                      <a:pt x="3166745" y="893227"/>
                      <a:pt x="3163000" y="893227"/>
                    </a:cubicBezTo>
                    <a:lnTo>
                      <a:pt x="14119" y="893227"/>
                    </a:lnTo>
                    <a:cubicBezTo>
                      <a:pt x="10375" y="893227"/>
                      <a:pt x="6783" y="891740"/>
                      <a:pt x="4135" y="889092"/>
                    </a:cubicBezTo>
                    <a:cubicBezTo>
                      <a:pt x="1488" y="886444"/>
                      <a:pt x="0" y="882853"/>
                      <a:pt x="0" y="879108"/>
                    </a:cubicBezTo>
                    <a:lnTo>
                      <a:pt x="0" y="14119"/>
                    </a:lnTo>
                    <a:cubicBezTo>
                      <a:pt x="0" y="10375"/>
                      <a:pt x="1488" y="6783"/>
                      <a:pt x="4135" y="4135"/>
                    </a:cubicBezTo>
                    <a:cubicBezTo>
                      <a:pt x="6783" y="1488"/>
                      <a:pt x="10375" y="0"/>
                      <a:pt x="14119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177119" cy="9313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166137" y="396773"/>
              <a:ext cx="11323668" cy="3684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84"/>
                </a:lnSpc>
              </a:pPr>
              <a:r>
                <a:rPr lang="en-US" sz="7846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EL VACÍO DEL MERCADO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45009" y="-177484"/>
            <a:ext cx="13226546" cy="4137243"/>
            <a:chOff x="0" y="0"/>
            <a:chExt cx="17635394" cy="551632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7635394" cy="1647219"/>
              <a:chOff x="0" y="0"/>
              <a:chExt cx="3483535" cy="32537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483535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83535" h="325377">
                    <a:moveTo>
                      <a:pt x="12877" y="0"/>
                    </a:moveTo>
                    <a:lnTo>
                      <a:pt x="3470658" y="0"/>
                    </a:lnTo>
                    <a:cubicBezTo>
                      <a:pt x="3474072" y="0"/>
                      <a:pt x="3477348" y="1357"/>
                      <a:pt x="3479763" y="3772"/>
                    </a:cubicBezTo>
                    <a:cubicBezTo>
                      <a:pt x="3482178" y="6187"/>
                      <a:pt x="3483535" y="9462"/>
                      <a:pt x="3483535" y="12877"/>
                    </a:cubicBezTo>
                    <a:lnTo>
                      <a:pt x="3483535" y="312499"/>
                    </a:lnTo>
                    <a:cubicBezTo>
                      <a:pt x="3483535" y="315915"/>
                      <a:pt x="3482178" y="319190"/>
                      <a:pt x="3479763" y="321605"/>
                    </a:cubicBezTo>
                    <a:cubicBezTo>
                      <a:pt x="3477348" y="324020"/>
                      <a:pt x="3474072" y="325377"/>
                      <a:pt x="3470658" y="325377"/>
                    </a:cubicBezTo>
                    <a:lnTo>
                      <a:pt x="12877" y="325377"/>
                    </a:lnTo>
                    <a:cubicBezTo>
                      <a:pt x="9462" y="325377"/>
                      <a:pt x="6187" y="324020"/>
                      <a:pt x="3772" y="321605"/>
                    </a:cubicBezTo>
                    <a:cubicBezTo>
                      <a:pt x="1357" y="319190"/>
                      <a:pt x="0" y="315915"/>
                      <a:pt x="0" y="312499"/>
                    </a:cubicBezTo>
                    <a:lnTo>
                      <a:pt x="0" y="12877"/>
                    </a:lnTo>
                    <a:cubicBezTo>
                      <a:pt x="0" y="9462"/>
                      <a:pt x="1357" y="6187"/>
                      <a:pt x="3772" y="3772"/>
                    </a:cubicBezTo>
                    <a:cubicBezTo>
                      <a:pt x="6187" y="1357"/>
                      <a:pt x="9462" y="0"/>
                      <a:pt x="12877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3483535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043806" y="3784981"/>
              <a:ext cx="11323668" cy="1731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84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45009" y="9136034"/>
            <a:ext cx="13226546" cy="4137243"/>
            <a:chOff x="0" y="0"/>
            <a:chExt cx="17635394" cy="5516324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7635394" cy="1647219"/>
              <a:chOff x="0" y="0"/>
              <a:chExt cx="3483535" cy="32537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483535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83535" h="325377">
                    <a:moveTo>
                      <a:pt x="12877" y="0"/>
                    </a:moveTo>
                    <a:lnTo>
                      <a:pt x="3470658" y="0"/>
                    </a:lnTo>
                    <a:cubicBezTo>
                      <a:pt x="3474072" y="0"/>
                      <a:pt x="3477348" y="1357"/>
                      <a:pt x="3479763" y="3772"/>
                    </a:cubicBezTo>
                    <a:cubicBezTo>
                      <a:pt x="3482178" y="6187"/>
                      <a:pt x="3483535" y="9462"/>
                      <a:pt x="3483535" y="12877"/>
                    </a:cubicBezTo>
                    <a:lnTo>
                      <a:pt x="3483535" y="312499"/>
                    </a:lnTo>
                    <a:cubicBezTo>
                      <a:pt x="3483535" y="315915"/>
                      <a:pt x="3482178" y="319190"/>
                      <a:pt x="3479763" y="321605"/>
                    </a:cubicBezTo>
                    <a:cubicBezTo>
                      <a:pt x="3477348" y="324020"/>
                      <a:pt x="3474072" y="325377"/>
                      <a:pt x="3470658" y="325377"/>
                    </a:cubicBezTo>
                    <a:lnTo>
                      <a:pt x="12877" y="325377"/>
                    </a:lnTo>
                    <a:cubicBezTo>
                      <a:pt x="9462" y="325377"/>
                      <a:pt x="6187" y="324020"/>
                      <a:pt x="3772" y="321605"/>
                    </a:cubicBezTo>
                    <a:cubicBezTo>
                      <a:pt x="1357" y="319190"/>
                      <a:pt x="0" y="315915"/>
                      <a:pt x="0" y="312499"/>
                    </a:cubicBezTo>
                    <a:lnTo>
                      <a:pt x="0" y="12877"/>
                    </a:lnTo>
                    <a:cubicBezTo>
                      <a:pt x="0" y="9462"/>
                      <a:pt x="1357" y="6187"/>
                      <a:pt x="3772" y="3772"/>
                    </a:cubicBezTo>
                    <a:cubicBezTo>
                      <a:pt x="6187" y="1357"/>
                      <a:pt x="9462" y="0"/>
                      <a:pt x="12877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3483535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2043806" y="3784981"/>
              <a:ext cx="11323668" cy="1731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84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104503" y="4554039"/>
            <a:ext cx="311632" cy="311632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9A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78374" y="4554039"/>
            <a:ext cx="311632" cy="311632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AB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52246" y="4554039"/>
            <a:ext cx="311632" cy="311632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03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4706345" y="7534049"/>
            <a:ext cx="1077329" cy="4114800"/>
          </a:xfrm>
          <a:custGeom>
            <a:avLst/>
            <a:gdLst/>
            <a:ahLst/>
            <a:cxnLst/>
            <a:rect l="l" t="t" r="r" b="b"/>
            <a:pathLst>
              <a:path w="1077329" h="4114800">
                <a:moveTo>
                  <a:pt x="0" y="0"/>
                </a:moveTo>
                <a:lnTo>
                  <a:pt x="1077329" y="0"/>
                </a:lnTo>
                <a:lnTo>
                  <a:pt x="10773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9" name="Freeform 49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1776" y="5838115"/>
            <a:ext cx="2447224" cy="2202502"/>
            <a:chOff x="0" y="0"/>
            <a:chExt cx="3262966" cy="2936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62966" cy="2936669"/>
            </a:xfrm>
            <a:custGeom>
              <a:avLst/>
              <a:gdLst/>
              <a:ahLst/>
              <a:cxnLst/>
              <a:rect l="l" t="t" r="r" b="b"/>
              <a:pathLst>
                <a:path w="3262966" h="2936669">
                  <a:moveTo>
                    <a:pt x="0" y="0"/>
                  </a:moveTo>
                  <a:lnTo>
                    <a:pt x="3262966" y="0"/>
                  </a:lnTo>
                  <a:lnTo>
                    <a:pt x="3262966" y="2936669"/>
                  </a:lnTo>
                  <a:lnTo>
                    <a:pt x="0" y="293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873836" y="828313"/>
              <a:ext cx="1280042" cy="1280042"/>
            </a:xfrm>
            <a:custGeom>
              <a:avLst/>
              <a:gdLst/>
              <a:ahLst/>
              <a:cxnLst/>
              <a:rect l="l" t="t" r="r" b="b"/>
              <a:pathLst>
                <a:path w="1280042" h="1280042">
                  <a:moveTo>
                    <a:pt x="0" y="0"/>
                  </a:moveTo>
                  <a:lnTo>
                    <a:pt x="1280043" y="0"/>
                  </a:lnTo>
                  <a:lnTo>
                    <a:pt x="1280043" y="1280043"/>
                  </a:lnTo>
                  <a:lnTo>
                    <a:pt x="0" y="1280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27692" y="-673265"/>
            <a:ext cx="12673837" cy="11633530"/>
            <a:chOff x="0" y="0"/>
            <a:chExt cx="3337965" cy="3063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7965" cy="3063975"/>
            </a:xfrm>
            <a:custGeom>
              <a:avLst/>
              <a:gdLst/>
              <a:ahLst/>
              <a:cxnLst/>
              <a:rect l="l" t="t" r="r" b="b"/>
              <a:pathLst>
                <a:path w="3337965" h="3063975">
                  <a:moveTo>
                    <a:pt x="0" y="0"/>
                  </a:moveTo>
                  <a:lnTo>
                    <a:pt x="3337965" y="0"/>
                  </a:lnTo>
                  <a:lnTo>
                    <a:pt x="3337965" y="3063975"/>
                  </a:lnTo>
                  <a:lnTo>
                    <a:pt x="0" y="3063975"/>
                  </a:lnTo>
                  <a:close/>
                </a:path>
              </a:pathLst>
            </a:custGeom>
            <a:solidFill>
              <a:srgbClr val="51ABB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337965" cy="310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27353" y="0"/>
            <a:ext cx="12673498" cy="1125756"/>
            <a:chOff x="0" y="0"/>
            <a:chExt cx="3337876" cy="2964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7876" cy="296495"/>
            </a:xfrm>
            <a:custGeom>
              <a:avLst/>
              <a:gdLst/>
              <a:ahLst/>
              <a:cxnLst/>
              <a:rect l="l" t="t" r="r" b="b"/>
              <a:pathLst>
                <a:path w="3337876" h="296495">
                  <a:moveTo>
                    <a:pt x="13439" y="0"/>
                  </a:moveTo>
                  <a:lnTo>
                    <a:pt x="3324437" y="0"/>
                  </a:lnTo>
                  <a:cubicBezTo>
                    <a:pt x="3328001" y="0"/>
                    <a:pt x="3331420" y="1416"/>
                    <a:pt x="3333940" y="3936"/>
                  </a:cubicBezTo>
                  <a:cubicBezTo>
                    <a:pt x="3336460" y="6457"/>
                    <a:pt x="3337876" y="9875"/>
                    <a:pt x="3337876" y="13439"/>
                  </a:cubicBezTo>
                  <a:lnTo>
                    <a:pt x="3337876" y="283056"/>
                  </a:lnTo>
                  <a:cubicBezTo>
                    <a:pt x="3337876" y="290478"/>
                    <a:pt x="3331859" y="296495"/>
                    <a:pt x="3324437" y="296495"/>
                  </a:cubicBezTo>
                  <a:lnTo>
                    <a:pt x="13439" y="296495"/>
                  </a:lnTo>
                  <a:cubicBezTo>
                    <a:pt x="6017" y="296495"/>
                    <a:pt x="0" y="290478"/>
                    <a:pt x="0" y="283056"/>
                  </a:cubicBezTo>
                  <a:lnTo>
                    <a:pt x="0" y="13439"/>
                  </a:lnTo>
                  <a:cubicBezTo>
                    <a:pt x="0" y="6017"/>
                    <a:pt x="6017" y="0"/>
                    <a:pt x="13439" y="0"/>
                  </a:cubicBezTo>
                  <a:close/>
                </a:path>
              </a:pathLst>
            </a:custGeom>
            <a:solidFill>
              <a:srgbClr val="EECACA"/>
            </a:solidFill>
            <a:ln cap="rnd">
              <a:noFill/>
              <a:prstDash val="sysDot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337876" cy="334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022" y="5992422"/>
            <a:ext cx="3529410" cy="2575552"/>
            <a:chOff x="0" y="0"/>
            <a:chExt cx="929557" cy="611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9557" cy="611003"/>
            </a:xfrm>
            <a:custGeom>
              <a:avLst/>
              <a:gdLst/>
              <a:ahLst/>
              <a:cxnLst/>
              <a:rect l="l" t="t" r="r" b="b"/>
              <a:pathLst>
                <a:path w="929557" h="611003">
                  <a:moveTo>
                    <a:pt x="48258" y="0"/>
                  </a:moveTo>
                  <a:lnTo>
                    <a:pt x="881299" y="0"/>
                  </a:lnTo>
                  <a:cubicBezTo>
                    <a:pt x="907951" y="0"/>
                    <a:pt x="929557" y="21606"/>
                    <a:pt x="929557" y="48258"/>
                  </a:cubicBezTo>
                  <a:lnTo>
                    <a:pt x="929557" y="562745"/>
                  </a:lnTo>
                  <a:cubicBezTo>
                    <a:pt x="929557" y="589397"/>
                    <a:pt x="907951" y="611003"/>
                    <a:pt x="881299" y="611003"/>
                  </a:cubicBezTo>
                  <a:lnTo>
                    <a:pt x="48258" y="611003"/>
                  </a:lnTo>
                  <a:cubicBezTo>
                    <a:pt x="21606" y="611003"/>
                    <a:pt x="0" y="589397"/>
                    <a:pt x="0" y="562745"/>
                  </a:cubicBezTo>
                  <a:lnTo>
                    <a:pt x="0" y="48258"/>
                  </a:lnTo>
                  <a:cubicBezTo>
                    <a:pt x="0" y="21606"/>
                    <a:pt x="21606" y="0"/>
                    <a:pt x="482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9557" cy="649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6256" y="5992422"/>
            <a:ext cx="3713108" cy="2575552"/>
            <a:chOff x="0" y="0"/>
            <a:chExt cx="977938" cy="6190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7938" cy="619066"/>
            </a:xfrm>
            <a:custGeom>
              <a:avLst/>
              <a:gdLst/>
              <a:ahLst/>
              <a:cxnLst/>
              <a:rect l="l" t="t" r="r" b="b"/>
              <a:pathLst>
                <a:path w="977938" h="619066">
                  <a:moveTo>
                    <a:pt x="45871" y="0"/>
                  </a:moveTo>
                  <a:lnTo>
                    <a:pt x="932067" y="0"/>
                  </a:lnTo>
                  <a:cubicBezTo>
                    <a:pt x="957401" y="0"/>
                    <a:pt x="977938" y="20537"/>
                    <a:pt x="977938" y="45871"/>
                  </a:cubicBezTo>
                  <a:lnTo>
                    <a:pt x="977938" y="573196"/>
                  </a:lnTo>
                  <a:cubicBezTo>
                    <a:pt x="977938" y="598529"/>
                    <a:pt x="957401" y="619066"/>
                    <a:pt x="932067" y="619066"/>
                  </a:cubicBezTo>
                  <a:lnTo>
                    <a:pt x="45871" y="619066"/>
                  </a:lnTo>
                  <a:cubicBezTo>
                    <a:pt x="20537" y="619066"/>
                    <a:pt x="0" y="598529"/>
                    <a:pt x="0" y="573196"/>
                  </a:cubicBezTo>
                  <a:lnTo>
                    <a:pt x="0" y="45871"/>
                  </a:lnTo>
                  <a:cubicBezTo>
                    <a:pt x="0" y="20537"/>
                    <a:pt x="20537" y="0"/>
                    <a:pt x="4587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77938" cy="65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57959" y="5992422"/>
            <a:ext cx="3406945" cy="2575552"/>
            <a:chOff x="0" y="0"/>
            <a:chExt cx="897302" cy="6190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7302" cy="619066"/>
            </a:xfrm>
            <a:custGeom>
              <a:avLst/>
              <a:gdLst/>
              <a:ahLst/>
              <a:cxnLst/>
              <a:rect l="l" t="t" r="r" b="b"/>
              <a:pathLst>
                <a:path w="897302" h="619066">
                  <a:moveTo>
                    <a:pt x="49993" y="0"/>
                  </a:moveTo>
                  <a:lnTo>
                    <a:pt x="847310" y="0"/>
                  </a:lnTo>
                  <a:cubicBezTo>
                    <a:pt x="860568" y="0"/>
                    <a:pt x="873284" y="5267"/>
                    <a:pt x="882660" y="14643"/>
                  </a:cubicBezTo>
                  <a:cubicBezTo>
                    <a:pt x="892035" y="24018"/>
                    <a:pt x="897302" y="36734"/>
                    <a:pt x="897302" y="49993"/>
                  </a:cubicBezTo>
                  <a:lnTo>
                    <a:pt x="897302" y="569074"/>
                  </a:lnTo>
                  <a:cubicBezTo>
                    <a:pt x="897302" y="582333"/>
                    <a:pt x="892035" y="595048"/>
                    <a:pt x="882660" y="604424"/>
                  </a:cubicBezTo>
                  <a:cubicBezTo>
                    <a:pt x="873284" y="613799"/>
                    <a:pt x="860568" y="619066"/>
                    <a:pt x="847310" y="619066"/>
                  </a:cubicBezTo>
                  <a:lnTo>
                    <a:pt x="49993" y="619066"/>
                  </a:lnTo>
                  <a:cubicBezTo>
                    <a:pt x="36734" y="619066"/>
                    <a:pt x="24018" y="613799"/>
                    <a:pt x="14643" y="604424"/>
                  </a:cubicBezTo>
                  <a:cubicBezTo>
                    <a:pt x="5267" y="595048"/>
                    <a:pt x="0" y="582333"/>
                    <a:pt x="0" y="569074"/>
                  </a:cubicBezTo>
                  <a:lnTo>
                    <a:pt x="0" y="49993"/>
                  </a:lnTo>
                  <a:cubicBezTo>
                    <a:pt x="0" y="36734"/>
                    <a:pt x="5267" y="24018"/>
                    <a:pt x="14643" y="14643"/>
                  </a:cubicBezTo>
                  <a:cubicBezTo>
                    <a:pt x="24018" y="5267"/>
                    <a:pt x="36734" y="0"/>
                    <a:pt x="499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7302" cy="65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6160046"/>
            <a:ext cx="11083641" cy="1890515"/>
            <a:chOff x="827316" y="0"/>
            <a:chExt cx="14778188" cy="2520687"/>
          </a:xfrm>
        </p:grpSpPr>
        <p:sp>
          <p:nvSpPr>
            <p:cNvPr id="21" name="Freeform 21"/>
            <p:cNvSpPr/>
            <p:nvPr/>
          </p:nvSpPr>
          <p:spPr>
            <a:xfrm>
              <a:off x="2356462" y="0"/>
              <a:ext cx="1257369" cy="1225364"/>
            </a:xfrm>
            <a:custGeom>
              <a:avLst/>
              <a:gdLst/>
              <a:ahLst/>
              <a:cxnLst/>
              <a:rect l="l" t="t" r="r" b="b"/>
              <a:pathLst>
                <a:path w="1257369" h="1225364">
                  <a:moveTo>
                    <a:pt x="0" y="0"/>
                  </a:moveTo>
                  <a:lnTo>
                    <a:pt x="1257370" y="0"/>
                  </a:lnTo>
                  <a:lnTo>
                    <a:pt x="1257370" y="1225364"/>
                  </a:lnTo>
                  <a:lnTo>
                    <a:pt x="0" y="122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316" y="1314116"/>
              <a:ext cx="4393100" cy="12065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PARÁLISIS POR LA DUDA</a:t>
              </a:r>
              <a:endParaRPr lang="en-US" sz="1000" dirty="0">
                <a:solidFill>
                  <a:srgbClr val="CD3F1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endParaRPr>
            </a:p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No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tienen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seguridad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para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elegir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componentes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adecuados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7001" y="1314116"/>
              <a:ext cx="4669344" cy="12065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INTOXICACIÓN DE FUENTES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Información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dispersa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en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tiendas,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foros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comparadores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  <a:endParaRPr lang="en-US" sz="1603" dirty="0">
                <a:solidFill>
                  <a:srgbClr val="F0DFC8"/>
                </a:solidFill>
                <a:latin typeface="Touvlo"/>
                <a:ea typeface="Touvlo"/>
                <a:cs typeface="Touvlo"/>
                <a:sym typeface="Touvlo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881054" y="0"/>
              <a:ext cx="1230285" cy="1225364"/>
            </a:xfrm>
            <a:custGeom>
              <a:avLst/>
              <a:gdLst/>
              <a:ahLst/>
              <a:cxnLst/>
              <a:rect l="l" t="t" r="r" b="b"/>
              <a:pathLst>
                <a:path w="1230285" h="1225364">
                  <a:moveTo>
                    <a:pt x="0" y="0"/>
                  </a:moveTo>
                  <a:lnTo>
                    <a:pt x="1230285" y="0"/>
                  </a:lnTo>
                  <a:lnTo>
                    <a:pt x="1230285" y="1225364"/>
                  </a:lnTo>
                  <a:lnTo>
                    <a:pt x="0" y="122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3853" y="1314116"/>
              <a:ext cx="4291651" cy="1206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COMPRAS FALLIDAS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Riesgo de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incompatibilidad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o bajo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rendimiento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2783022" y="0"/>
              <a:ext cx="1353313" cy="1225364"/>
            </a:xfrm>
            <a:custGeom>
              <a:avLst/>
              <a:gdLst/>
              <a:ahLst/>
              <a:cxnLst/>
              <a:rect l="l" t="t" r="r" b="b"/>
              <a:pathLst>
                <a:path w="1353313" h="1225364">
                  <a:moveTo>
                    <a:pt x="0" y="0"/>
                  </a:moveTo>
                  <a:lnTo>
                    <a:pt x="1353313" y="0"/>
                  </a:lnTo>
                  <a:lnTo>
                    <a:pt x="1353313" y="1225364"/>
                  </a:lnTo>
                  <a:lnTo>
                    <a:pt x="0" y="122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622624" y="5838115"/>
            <a:ext cx="2447224" cy="2202502"/>
            <a:chOff x="0" y="0"/>
            <a:chExt cx="3262966" cy="29366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62966" cy="2936669"/>
            </a:xfrm>
            <a:custGeom>
              <a:avLst/>
              <a:gdLst/>
              <a:ahLst/>
              <a:cxnLst/>
              <a:rect l="l" t="t" r="r" b="b"/>
              <a:pathLst>
                <a:path w="3262966" h="2936669">
                  <a:moveTo>
                    <a:pt x="0" y="0"/>
                  </a:moveTo>
                  <a:lnTo>
                    <a:pt x="3262966" y="0"/>
                  </a:lnTo>
                  <a:lnTo>
                    <a:pt x="3262966" y="2936669"/>
                  </a:lnTo>
                  <a:lnTo>
                    <a:pt x="0" y="293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720961" y="707860"/>
              <a:ext cx="1507122" cy="1520949"/>
            </a:xfrm>
            <a:custGeom>
              <a:avLst/>
              <a:gdLst/>
              <a:ahLst/>
              <a:cxnLst/>
              <a:rect l="l" t="t" r="r" b="b"/>
              <a:pathLst>
                <a:path w="1507122" h="1520949">
                  <a:moveTo>
                    <a:pt x="0" y="0"/>
                  </a:moveTo>
                  <a:lnTo>
                    <a:pt x="1507121" y="0"/>
                  </a:lnTo>
                  <a:lnTo>
                    <a:pt x="1507121" y="1520949"/>
                  </a:lnTo>
                  <a:lnTo>
                    <a:pt x="0" y="1520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-127576" y="2030383"/>
            <a:ext cx="11647850" cy="3391473"/>
            <a:chOff x="0" y="0"/>
            <a:chExt cx="3067747" cy="89322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067747" cy="893227"/>
            </a:xfrm>
            <a:custGeom>
              <a:avLst/>
              <a:gdLst/>
              <a:ahLst/>
              <a:cxnLst/>
              <a:rect l="l" t="t" r="r" b="b"/>
              <a:pathLst>
                <a:path w="3067747" h="893227">
                  <a:moveTo>
                    <a:pt x="14623" y="0"/>
                  </a:moveTo>
                  <a:lnTo>
                    <a:pt x="3053124" y="0"/>
                  </a:lnTo>
                  <a:cubicBezTo>
                    <a:pt x="3057002" y="0"/>
                    <a:pt x="3060722" y="1541"/>
                    <a:pt x="3063464" y="4283"/>
                  </a:cubicBezTo>
                  <a:cubicBezTo>
                    <a:pt x="3066206" y="7025"/>
                    <a:pt x="3067747" y="10744"/>
                    <a:pt x="3067747" y="14623"/>
                  </a:cubicBezTo>
                  <a:lnTo>
                    <a:pt x="3067747" y="878605"/>
                  </a:lnTo>
                  <a:cubicBezTo>
                    <a:pt x="3067747" y="882483"/>
                    <a:pt x="3066206" y="886202"/>
                    <a:pt x="3063464" y="888945"/>
                  </a:cubicBezTo>
                  <a:cubicBezTo>
                    <a:pt x="3060722" y="891687"/>
                    <a:pt x="3057002" y="893227"/>
                    <a:pt x="3053124" y="893227"/>
                  </a:cubicBezTo>
                  <a:lnTo>
                    <a:pt x="14623" y="893227"/>
                  </a:lnTo>
                  <a:cubicBezTo>
                    <a:pt x="10744" y="893227"/>
                    <a:pt x="7025" y="891687"/>
                    <a:pt x="4283" y="888945"/>
                  </a:cubicBezTo>
                  <a:cubicBezTo>
                    <a:pt x="1541" y="886202"/>
                    <a:pt x="0" y="882483"/>
                    <a:pt x="0" y="878605"/>
                  </a:cubicBezTo>
                  <a:lnTo>
                    <a:pt x="0" y="14623"/>
                  </a:lnTo>
                  <a:cubicBezTo>
                    <a:pt x="0" y="10744"/>
                    <a:pt x="1541" y="7025"/>
                    <a:pt x="4283" y="4283"/>
                  </a:cubicBezTo>
                  <a:cubicBezTo>
                    <a:pt x="7025" y="1541"/>
                    <a:pt x="10744" y="0"/>
                    <a:pt x="14623" y="0"/>
                  </a:cubicBezTo>
                  <a:close/>
                </a:path>
              </a:pathLst>
            </a:custGeom>
            <a:solidFill>
              <a:srgbClr val="F0DFC8"/>
            </a:solidFill>
            <a:ln w="38100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067747" cy="931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055388" y="2009783"/>
            <a:ext cx="2402357" cy="2494248"/>
            <a:chOff x="0" y="0"/>
            <a:chExt cx="3203143" cy="33256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03143" cy="2823823"/>
            </a:xfrm>
            <a:custGeom>
              <a:avLst/>
              <a:gdLst/>
              <a:ahLst/>
              <a:cxnLst/>
              <a:rect l="l" t="t" r="r" b="b"/>
              <a:pathLst>
                <a:path w="3203143" h="2823823">
                  <a:moveTo>
                    <a:pt x="0" y="0"/>
                  </a:moveTo>
                  <a:lnTo>
                    <a:pt x="3203143" y="0"/>
                  </a:lnTo>
                  <a:lnTo>
                    <a:pt x="3203143" y="2823823"/>
                  </a:lnTo>
                  <a:lnTo>
                    <a:pt x="0" y="2823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8019" y="2974115"/>
              <a:ext cx="2013312" cy="351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¿</a:t>
              </a:r>
              <a:r>
                <a:rPr lang="en-US" sz="1600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Cuál</a:t>
              </a:r>
              <a:r>
                <a:rPr lang="en-US" sz="1600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0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escojo</a:t>
              </a:r>
              <a:r>
                <a:rPr lang="en-US" sz="1600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?</a:t>
              </a:r>
            </a:p>
          </p:txBody>
        </p:sp>
      </p:grpSp>
      <p:sp>
        <p:nvSpPr>
          <p:cNvPr id="36" name="Freeform 36"/>
          <p:cNvSpPr/>
          <p:nvPr/>
        </p:nvSpPr>
        <p:spPr>
          <a:xfrm rot="7451706">
            <a:off x="13598654" y="4809297"/>
            <a:ext cx="913467" cy="300614"/>
          </a:xfrm>
          <a:custGeom>
            <a:avLst/>
            <a:gdLst/>
            <a:ahLst/>
            <a:cxnLst/>
            <a:rect l="l" t="t" r="r" b="b"/>
            <a:pathLst>
              <a:path w="913467" h="300614">
                <a:moveTo>
                  <a:pt x="0" y="0"/>
                </a:moveTo>
                <a:lnTo>
                  <a:pt x="913467" y="0"/>
                </a:lnTo>
                <a:lnTo>
                  <a:pt x="913467" y="300614"/>
                </a:lnTo>
                <a:lnTo>
                  <a:pt x="0" y="300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7" name="Freeform 37"/>
          <p:cNvSpPr/>
          <p:nvPr/>
        </p:nvSpPr>
        <p:spPr>
          <a:xfrm rot="3259127" flipV="1">
            <a:off x="16009459" y="4786437"/>
            <a:ext cx="913467" cy="300614"/>
          </a:xfrm>
          <a:custGeom>
            <a:avLst/>
            <a:gdLst/>
            <a:ahLst/>
            <a:cxnLst/>
            <a:rect l="l" t="t" r="r" b="b"/>
            <a:pathLst>
              <a:path w="913467" h="300614">
                <a:moveTo>
                  <a:pt x="0" y="300613"/>
                </a:moveTo>
                <a:lnTo>
                  <a:pt x="913467" y="300613"/>
                </a:lnTo>
                <a:lnTo>
                  <a:pt x="913467" y="0"/>
                </a:lnTo>
                <a:lnTo>
                  <a:pt x="0" y="0"/>
                </a:lnTo>
                <a:lnTo>
                  <a:pt x="0" y="300613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8" name="Group 38"/>
          <p:cNvGrpSpPr/>
          <p:nvPr/>
        </p:nvGrpSpPr>
        <p:grpSpPr>
          <a:xfrm>
            <a:off x="-327353" y="9161244"/>
            <a:ext cx="12673498" cy="1125756"/>
            <a:chOff x="0" y="0"/>
            <a:chExt cx="3337876" cy="29649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337876" cy="296495"/>
            </a:xfrm>
            <a:custGeom>
              <a:avLst/>
              <a:gdLst/>
              <a:ahLst/>
              <a:cxnLst/>
              <a:rect l="l" t="t" r="r" b="b"/>
              <a:pathLst>
                <a:path w="3337876" h="296495">
                  <a:moveTo>
                    <a:pt x="13439" y="0"/>
                  </a:moveTo>
                  <a:lnTo>
                    <a:pt x="3324437" y="0"/>
                  </a:lnTo>
                  <a:cubicBezTo>
                    <a:pt x="3328001" y="0"/>
                    <a:pt x="3331420" y="1416"/>
                    <a:pt x="3333940" y="3936"/>
                  </a:cubicBezTo>
                  <a:cubicBezTo>
                    <a:pt x="3336460" y="6457"/>
                    <a:pt x="3337876" y="9875"/>
                    <a:pt x="3337876" y="13439"/>
                  </a:cubicBezTo>
                  <a:lnTo>
                    <a:pt x="3337876" y="283056"/>
                  </a:lnTo>
                  <a:cubicBezTo>
                    <a:pt x="3337876" y="290478"/>
                    <a:pt x="3331859" y="296495"/>
                    <a:pt x="3324437" y="296495"/>
                  </a:cubicBezTo>
                  <a:lnTo>
                    <a:pt x="13439" y="296495"/>
                  </a:lnTo>
                  <a:cubicBezTo>
                    <a:pt x="6017" y="296495"/>
                    <a:pt x="0" y="290478"/>
                    <a:pt x="0" y="283056"/>
                  </a:cubicBezTo>
                  <a:lnTo>
                    <a:pt x="0" y="13439"/>
                  </a:lnTo>
                  <a:cubicBezTo>
                    <a:pt x="0" y="6017"/>
                    <a:pt x="6017" y="0"/>
                    <a:pt x="13439" y="0"/>
                  </a:cubicBezTo>
                  <a:close/>
                </a:path>
              </a:pathLst>
            </a:custGeom>
            <a:solidFill>
              <a:srgbClr val="EECACA"/>
            </a:solidFill>
            <a:ln cap="rnd">
              <a:noFill/>
              <a:prstDash val="sysDot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337876" cy="334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849799" y="4936743"/>
            <a:ext cx="311632" cy="311632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AB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316017" y="4936743"/>
            <a:ext cx="311632" cy="311632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03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782234" y="4936743"/>
            <a:ext cx="328862" cy="328862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968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770641" y="2672025"/>
            <a:ext cx="8079159" cy="230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05"/>
              </a:lnSpc>
            </a:pPr>
            <a:r>
              <a:rPr lang="en-US" sz="8646" dirty="0">
                <a:solidFill>
                  <a:srgbClr val="30303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EL ALTO COSTO DEL ERROR</a:t>
            </a:r>
          </a:p>
        </p:txBody>
      </p:sp>
      <p:sp>
        <p:nvSpPr>
          <p:cNvPr id="51" name="Freeform 51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AB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1771" y="4100233"/>
            <a:ext cx="6494987" cy="5491217"/>
            <a:chOff x="0" y="0"/>
            <a:chExt cx="8659983" cy="73216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59983" cy="7321622"/>
            </a:xfrm>
            <a:custGeom>
              <a:avLst/>
              <a:gdLst/>
              <a:ahLst/>
              <a:cxnLst/>
              <a:rect l="l" t="t" r="r" b="b"/>
              <a:pathLst>
                <a:path w="8659983" h="7321622">
                  <a:moveTo>
                    <a:pt x="0" y="0"/>
                  </a:moveTo>
                  <a:lnTo>
                    <a:pt x="8659983" y="0"/>
                  </a:lnTo>
                  <a:lnTo>
                    <a:pt x="8659983" y="7321622"/>
                  </a:lnTo>
                  <a:lnTo>
                    <a:pt x="0" y="7321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pic>
          <p:nvPicPr>
            <p:cNvPr id="4" name="Picture 4">
              <a:hlinkClick r:id="" action="ppaction://media"/>
            </p:cNvPr>
            <p:cNvPicPr>
              <a:picLocks noChangeAspect="1"/>
            </p:cNvPicPr>
            <p:nvPr>
              <a:videoFile r:link="rId1"/>
              <p:extLst>
                <p:ext uri="{DAA4B4D4-6D71-4841-9C94-3DE7FCFB9230}">
                  <p14:media xmlns:p14="http://schemas.microsoft.com/office/powerpoint/2010/main" r:embed="rId2">
                    <p14:trim/>
                  </p14:media>
                </p:ext>
              </p:extLst>
            </p:nvPr>
          </p:nvPicPr>
          <p:blipFill>
            <a:blip r:embed="rId5"/>
            <a:srcRect l="10745" t="6681" r="10229" b="4998"/>
            <a:stretch>
              <a:fillRect/>
            </a:stretch>
          </p:blipFill>
          <p:spPr>
            <a:xfrm>
              <a:off x="149857" y="269152"/>
              <a:ext cx="8349279" cy="524886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-354419" y="0"/>
            <a:ext cx="18783510" cy="4351660"/>
            <a:chOff x="0" y="0"/>
            <a:chExt cx="25044680" cy="580221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5044680" cy="1014081"/>
              <a:chOff x="0" y="0"/>
              <a:chExt cx="4947097" cy="20031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47097" cy="200312"/>
              </a:xfrm>
              <a:custGeom>
                <a:avLst/>
                <a:gdLst/>
                <a:ahLst/>
                <a:cxnLst/>
                <a:rect l="l" t="t" r="r" b="b"/>
                <a:pathLst>
                  <a:path w="4947097" h="200312">
                    <a:moveTo>
                      <a:pt x="9068" y="0"/>
                    </a:moveTo>
                    <a:lnTo>
                      <a:pt x="4938030" y="0"/>
                    </a:lnTo>
                    <a:cubicBezTo>
                      <a:pt x="4940434" y="0"/>
                      <a:pt x="4942741" y="955"/>
                      <a:pt x="4944442" y="2656"/>
                    </a:cubicBezTo>
                    <a:cubicBezTo>
                      <a:pt x="4946142" y="4356"/>
                      <a:pt x="4947097" y="6663"/>
                      <a:pt x="4947097" y="9068"/>
                    </a:cubicBezTo>
                    <a:lnTo>
                      <a:pt x="4947097" y="191245"/>
                    </a:lnTo>
                    <a:cubicBezTo>
                      <a:pt x="4947097" y="193649"/>
                      <a:pt x="4946142" y="195956"/>
                      <a:pt x="4944442" y="197656"/>
                    </a:cubicBezTo>
                    <a:cubicBezTo>
                      <a:pt x="4942741" y="199357"/>
                      <a:pt x="4940434" y="200312"/>
                      <a:pt x="4938030" y="200312"/>
                    </a:cubicBezTo>
                    <a:lnTo>
                      <a:pt x="9068" y="200312"/>
                    </a:lnTo>
                    <a:cubicBezTo>
                      <a:pt x="6663" y="200312"/>
                      <a:pt x="4356" y="199357"/>
                      <a:pt x="2656" y="197656"/>
                    </a:cubicBezTo>
                    <a:cubicBezTo>
                      <a:pt x="955" y="195956"/>
                      <a:pt x="0" y="193649"/>
                      <a:pt x="0" y="191245"/>
                    </a:cubicBezTo>
                    <a:lnTo>
                      <a:pt x="0" y="9068"/>
                    </a:lnTo>
                    <a:cubicBezTo>
                      <a:pt x="0" y="6663"/>
                      <a:pt x="955" y="4356"/>
                      <a:pt x="2656" y="2656"/>
                    </a:cubicBezTo>
                    <a:cubicBezTo>
                      <a:pt x="4356" y="955"/>
                      <a:pt x="6663" y="0"/>
                      <a:pt x="9068" y="0"/>
                    </a:cubicBezTo>
                    <a:close/>
                  </a:path>
                </a:pathLst>
              </a:custGeom>
              <a:solidFill>
                <a:srgbClr val="F0DFC8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947097" cy="238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204911" y="4259334"/>
              <a:ext cx="14437658" cy="154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71460" y="-1455574"/>
            <a:ext cx="10853879" cy="4835586"/>
            <a:chOff x="0" y="0"/>
            <a:chExt cx="14471838" cy="644744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4471838" cy="6447448"/>
              <a:chOff x="0" y="0"/>
              <a:chExt cx="2858635" cy="127357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858635" cy="1273570"/>
              </a:xfrm>
              <a:custGeom>
                <a:avLst/>
                <a:gdLst/>
                <a:ahLst/>
                <a:cxnLst/>
                <a:rect l="l" t="t" r="r" b="b"/>
                <a:pathLst>
                  <a:path w="2858635" h="1273570">
                    <a:moveTo>
                      <a:pt x="15692" y="0"/>
                    </a:moveTo>
                    <a:lnTo>
                      <a:pt x="2842942" y="0"/>
                    </a:lnTo>
                    <a:cubicBezTo>
                      <a:pt x="2847104" y="0"/>
                      <a:pt x="2851096" y="1653"/>
                      <a:pt x="2854038" y="4596"/>
                    </a:cubicBezTo>
                    <a:cubicBezTo>
                      <a:pt x="2856981" y="7539"/>
                      <a:pt x="2858635" y="11530"/>
                      <a:pt x="2858635" y="15692"/>
                    </a:cubicBezTo>
                    <a:lnTo>
                      <a:pt x="2858635" y="1257878"/>
                    </a:lnTo>
                    <a:cubicBezTo>
                      <a:pt x="2858635" y="1262040"/>
                      <a:pt x="2856981" y="1266031"/>
                      <a:pt x="2854038" y="1268974"/>
                    </a:cubicBezTo>
                    <a:cubicBezTo>
                      <a:pt x="2851096" y="1271917"/>
                      <a:pt x="2847104" y="1273570"/>
                      <a:pt x="2842942" y="1273570"/>
                    </a:cubicBezTo>
                    <a:lnTo>
                      <a:pt x="15692" y="1273570"/>
                    </a:lnTo>
                    <a:cubicBezTo>
                      <a:pt x="11530" y="1273570"/>
                      <a:pt x="7539" y="1271917"/>
                      <a:pt x="4596" y="1268974"/>
                    </a:cubicBezTo>
                    <a:cubicBezTo>
                      <a:pt x="1653" y="1266031"/>
                      <a:pt x="0" y="1262040"/>
                      <a:pt x="0" y="1257878"/>
                    </a:cubicBezTo>
                    <a:lnTo>
                      <a:pt x="0" y="15692"/>
                    </a:lnTo>
                    <a:cubicBezTo>
                      <a:pt x="0" y="11530"/>
                      <a:pt x="1653" y="7539"/>
                      <a:pt x="4596" y="4596"/>
                    </a:cubicBezTo>
                    <a:cubicBezTo>
                      <a:pt x="7539" y="1653"/>
                      <a:pt x="11530" y="0"/>
                      <a:pt x="15692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858635" cy="13116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3204415"/>
              <a:ext cx="14437658" cy="2914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 dirty="0">
                  <a:solidFill>
                    <a:srgbClr val="292929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EL TRADUCTOR INTELIGENTE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6647" y="4470598"/>
            <a:ext cx="4036543" cy="4034416"/>
            <a:chOff x="0" y="0"/>
            <a:chExt cx="1063122" cy="10625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3122" cy="1062562"/>
            </a:xfrm>
            <a:custGeom>
              <a:avLst/>
              <a:gdLst/>
              <a:ahLst/>
              <a:cxnLst/>
              <a:rect l="l" t="t" r="r" b="b"/>
              <a:pathLst>
                <a:path w="1063122" h="1062562">
                  <a:moveTo>
                    <a:pt x="42195" y="0"/>
                  </a:moveTo>
                  <a:lnTo>
                    <a:pt x="1020927" y="0"/>
                  </a:lnTo>
                  <a:cubicBezTo>
                    <a:pt x="1032118" y="0"/>
                    <a:pt x="1042851" y="4446"/>
                    <a:pt x="1050764" y="12359"/>
                  </a:cubicBezTo>
                  <a:cubicBezTo>
                    <a:pt x="1058677" y="20272"/>
                    <a:pt x="1063122" y="31004"/>
                    <a:pt x="1063122" y="42195"/>
                  </a:cubicBezTo>
                  <a:lnTo>
                    <a:pt x="1063122" y="1020367"/>
                  </a:lnTo>
                  <a:cubicBezTo>
                    <a:pt x="1063122" y="1031558"/>
                    <a:pt x="1058677" y="1042291"/>
                    <a:pt x="1050764" y="1050204"/>
                  </a:cubicBezTo>
                  <a:cubicBezTo>
                    <a:pt x="1042851" y="1058117"/>
                    <a:pt x="1032118" y="1062562"/>
                    <a:pt x="1020927" y="1062562"/>
                  </a:cubicBezTo>
                  <a:lnTo>
                    <a:pt x="42195" y="1062562"/>
                  </a:lnTo>
                  <a:cubicBezTo>
                    <a:pt x="31004" y="1062562"/>
                    <a:pt x="20272" y="1058117"/>
                    <a:pt x="12359" y="1050204"/>
                  </a:cubicBezTo>
                  <a:cubicBezTo>
                    <a:pt x="4446" y="1042291"/>
                    <a:pt x="0" y="1031558"/>
                    <a:pt x="0" y="1020367"/>
                  </a:cubicBezTo>
                  <a:lnTo>
                    <a:pt x="0" y="42195"/>
                  </a:lnTo>
                  <a:cubicBezTo>
                    <a:pt x="0" y="31004"/>
                    <a:pt x="4446" y="20272"/>
                    <a:pt x="12359" y="12359"/>
                  </a:cubicBezTo>
                  <a:cubicBezTo>
                    <a:pt x="20272" y="4446"/>
                    <a:pt x="31004" y="0"/>
                    <a:pt x="421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63122" cy="1100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433932" y="4932688"/>
            <a:ext cx="1728934" cy="3007257"/>
            <a:chOff x="0" y="0"/>
            <a:chExt cx="2305245" cy="4009676"/>
          </a:xfrm>
        </p:grpSpPr>
        <p:sp>
          <p:nvSpPr>
            <p:cNvPr id="19" name="Freeform 19"/>
            <p:cNvSpPr/>
            <p:nvPr/>
          </p:nvSpPr>
          <p:spPr>
            <a:xfrm>
              <a:off x="411730" y="1715788"/>
              <a:ext cx="1893515" cy="572788"/>
            </a:xfrm>
            <a:custGeom>
              <a:avLst/>
              <a:gdLst/>
              <a:ahLst/>
              <a:cxnLst/>
              <a:rect l="l" t="t" r="r" b="b"/>
              <a:pathLst>
                <a:path w="1893515" h="572788">
                  <a:moveTo>
                    <a:pt x="0" y="0"/>
                  </a:moveTo>
                  <a:lnTo>
                    <a:pt x="1893515" y="0"/>
                  </a:lnTo>
                  <a:lnTo>
                    <a:pt x="1893515" y="572788"/>
                  </a:lnTo>
                  <a:lnTo>
                    <a:pt x="0" y="57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436888"/>
              <a:ext cx="1893515" cy="572788"/>
            </a:xfrm>
            <a:custGeom>
              <a:avLst/>
              <a:gdLst/>
              <a:ahLst/>
              <a:cxnLst/>
              <a:rect l="l" t="t" r="r" b="b"/>
              <a:pathLst>
                <a:path w="1893515" h="572788">
                  <a:moveTo>
                    <a:pt x="0" y="0"/>
                  </a:moveTo>
                  <a:lnTo>
                    <a:pt x="1893515" y="0"/>
                  </a:lnTo>
                  <a:lnTo>
                    <a:pt x="1893515" y="572788"/>
                  </a:lnTo>
                  <a:lnTo>
                    <a:pt x="0" y="57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893515" cy="572788"/>
            </a:xfrm>
            <a:custGeom>
              <a:avLst/>
              <a:gdLst/>
              <a:ahLst/>
              <a:cxnLst/>
              <a:rect l="l" t="t" r="r" b="b"/>
              <a:pathLst>
                <a:path w="1893515" h="572788">
                  <a:moveTo>
                    <a:pt x="0" y="0"/>
                  </a:moveTo>
                  <a:lnTo>
                    <a:pt x="1893515" y="0"/>
                  </a:lnTo>
                  <a:lnTo>
                    <a:pt x="1893515" y="572788"/>
                  </a:lnTo>
                  <a:lnTo>
                    <a:pt x="0" y="57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-6476265" y="3316061"/>
            <a:ext cx="10043455" cy="4351660"/>
            <a:chOff x="0" y="0"/>
            <a:chExt cx="13391274" cy="580221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3391274" cy="1014081"/>
              <a:chOff x="0" y="0"/>
              <a:chExt cx="2645190" cy="200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645190" cy="200312"/>
              </a:xfrm>
              <a:custGeom>
                <a:avLst/>
                <a:gdLst/>
                <a:ahLst/>
                <a:cxnLst/>
                <a:rect l="l" t="t" r="r" b="b"/>
                <a:pathLst>
                  <a:path w="2645190" h="200312">
                    <a:moveTo>
                      <a:pt x="16959" y="0"/>
                    </a:moveTo>
                    <a:lnTo>
                      <a:pt x="2628231" y="0"/>
                    </a:lnTo>
                    <a:cubicBezTo>
                      <a:pt x="2637597" y="0"/>
                      <a:pt x="2645190" y="7593"/>
                      <a:pt x="2645190" y="16959"/>
                    </a:cubicBezTo>
                    <a:lnTo>
                      <a:pt x="2645190" y="183354"/>
                    </a:lnTo>
                    <a:cubicBezTo>
                      <a:pt x="2645190" y="192720"/>
                      <a:pt x="2637597" y="200312"/>
                      <a:pt x="2628231" y="200312"/>
                    </a:cubicBezTo>
                    <a:lnTo>
                      <a:pt x="16959" y="200312"/>
                    </a:lnTo>
                    <a:cubicBezTo>
                      <a:pt x="7593" y="200312"/>
                      <a:pt x="0" y="192720"/>
                      <a:pt x="0" y="183354"/>
                    </a:cubicBezTo>
                    <a:lnTo>
                      <a:pt x="0" y="16959"/>
                    </a:lnTo>
                    <a:cubicBezTo>
                      <a:pt x="0" y="7593"/>
                      <a:pt x="7593" y="0"/>
                      <a:pt x="16959" y="0"/>
                    </a:cubicBezTo>
                    <a:close/>
                  </a:path>
                </a:pathLst>
              </a:custGeom>
              <a:solidFill>
                <a:srgbClr val="F0DFC8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645190" cy="238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317737" y="4259334"/>
              <a:ext cx="7719749" cy="154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3017302" y="5233395"/>
            <a:ext cx="10043455" cy="760560"/>
            <a:chOff x="0" y="0"/>
            <a:chExt cx="2645190" cy="2003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45190" cy="200312"/>
            </a:xfrm>
            <a:custGeom>
              <a:avLst/>
              <a:gdLst/>
              <a:ahLst/>
              <a:cxnLst/>
              <a:rect l="l" t="t" r="r" b="b"/>
              <a:pathLst>
                <a:path w="2645190" h="200312">
                  <a:moveTo>
                    <a:pt x="16959" y="0"/>
                  </a:moveTo>
                  <a:lnTo>
                    <a:pt x="2628231" y="0"/>
                  </a:lnTo>
                  <a:cubicBezTo>
                    <a:pt x="2637597" y="0"/>
                    <a:pt x="2645190" y="7593"/>
                    <a:pt x="2645190" y="16959"/>
                  </a:cubicBezTo>
                  <a:lnTo>
                    <a:pt x="2645190" y="183354"/>
                  </a:lnTo>
                  <a:cubicBezTo>
                    <a:pt x="2645190" y="192720"/>
                    <a:pt x="2637597" y="200312"/>
                    <a:pt x="2628231" y="200312"/>
                  </a:cubicBezTo>
                  <a:lnTo>
                    <a:pt x="16959" y="200312"/>
                  </a:lnTo>
                  <a:cubicBezTo>
                    <a:pt x="7593" y="200312"/>
                    <a:pt x="0" y="192720"/>
                    <a:pt x="0" y="183354"/>
                  </a:cubicBezTo>
                  <a:lnTo>
                    <a:pt x="0" y="16959"/>
                  </a:lnTo>
                  <a:cubicBezTo>
                    <a:pt x="0" y="7593"/>
                    <a:pt x="7593" y="0"/>
                    <a:pt x="16959" y="0"/>
                  </a:cubicBezTo>
                  <a:close/>
                </a:path>
              </a:pathLst>
            </a:custGeom>
            <a:solidFill>
              <a:srgbClr val="F0DFC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645190" cy="238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-22257356" y="452910"/>
            <a:ext cx="25602321" cy="8008366"/>
            <a:chOff x="0" y="0"/>
            <a:chExt cx="34136428" cy="10677822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4136428" cy="3188485"/>
              <a:chOff x="0" y="0"/>
              <a:chExt cx="3483535" cy="32537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483535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83535" h="325377">
                    <a:moveTo>
                      <a:pt x="12877" y="0"/>
                    </a:moveTo>
                    <a:lnTo>
                      <a:pt x="3470658" y="0"/>
                    </a:lnTo>
                    <a:cubicBezTo>
                      <a:pt x="3474072" y="0"/>
                      <a:pt x="3477348" y="1357"/>
                      <a:pt x="3479763" y="3772"/>
                    </a:cubicBezTo>
                    <a:cubicBezTo>
                      <a:pt x="3482178" y="6187"/>
                      <a:pt x="3483535" y="9462"/>
                      <a:pt x="3483535" y="12877"/>
                    </a:cubicBezTo>
                    <a:lnTo>
                      <a:pt x="3483535" y="312499"/>
                    </a:lnTo>
                    <a:cubicBezTo>
                      <a:pt x="3483535" y="315915"/>
                      <a:pt x="3482178" y="319190"/>
                      <a:pt x="3479763" y="321605"/>
                    </a:cubicBezTo>
                    <a:cubicBezTo>
                      <a:pt x="3477348" y="324020"/>
                      <a:pt x="3474072" y="325377"/>
                      <a:pt x="3470658" y="325377"/>
                    </a:cubicBezTo>
                    <a:lnTo>
                      <a:pt x="12877" y="325377"/>
                    </a:lnTo>
                    <a:cubicBezTo>
                      <a:pt x="9462" y="325377"/>
                      <a:pt x="6187" y="324020"/>
                      <a:pt x="3772" y="321605"/>
                    </a:cubicBezTo>
                    <a:cubicBezTo>
                      <a:pt x="1357" y="319190"/>
                      <a:pt x="0" y="315915"/>
                      <a:pt x="0" y="312499"/>
                    </a:cubicBezTo>
                    <a:lnTo>
                      <a:pt x="0" y="12877"/>
                    </a:lnTo>
                    <a:cubicBezTo>
                      <a:pt x="0" y="9462"/>
                      <a:pt x="1357" y="6187"/>
                      <a:pt x="3772" y="3772"/>
                    </a:cubicBezTo>
                    <a:cubicBezTo>
                      <a:pt x="6187" y="1357"/>
                      <a:pt x="9462" y="0"/>
                      <a:pt x="12877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3483535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956148" y="7317311"/>
              <a:ext cx="21918964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721293" y="696087"/>
            <a:ext cx="2204239" cy="1943211"/>
          </a:xfrm>
          <a:custGeom>
            <a:avLst/>
            <a:gdLst/>
            <a:ahLst/>
            <a:cxnLst/>
            <a:rect l="l" t="t" r="r" b="b"/>
            <a:pathLst>
              <a:path w="2204239" h="1943211">
                <a:moveTo>
                  <a:pt x="0" y="0"/>
                </a:moveTo>
                <a:lnTo>
                  <a:pt x="2204239" y="0"/>
                </a:lnTo>
                <a:lnTo>
                  <a:pt x="2204239" y="1943211"/>
                </a:lnTo>
                <a:lnTo>
                  <a:pt x="0" y="1943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6" name="Group 36"/>
          <p:cNvGrpSpPr/>
          <p:nvPr/>
        </p:nvGrpSpPr>
        <p:grpSpPr>
          <a:xfrm>
            <a:off x="10976647" y="4811130"/>
            <a:ext cx="4036543" cy="3341947"/>
            <a:chOff x="0" y="-38100"/>
            <a:chExt cx="5382057" cy="4455929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38100"/>
              <a:ext cx="5382057" cy="830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TRADUCCIÓN SIMPLE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Del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uso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real a la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configuración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ideal.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1399576"/>
              <a:ext cx="5382057" cy="1206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RECOMENDACIÓN JUSTIFICADA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Motor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que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combina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Compatibilidad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,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Sugerencias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Presupuesto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3211258"/>
              <a:ext cx="5382057" cy="1206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CD3F1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FOCO EN LA ORIENTACIÓN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Nuestro valor es la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confianza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, no la </a:t>
              </a:r>
              <a:r>
                <a:rPr lang="en-US" sz="1603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venta</a:t>
              </a:r>
              <a:r>
                <a:rPr lang="en-US" sz="1603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 rot="5400000">
            <a:off x="11725130" y="5422770"/>
            <a:ext cx="5789812" cy="110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0"/>
              </a:lnSpc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046307"/>
            <a:ext cx="20850000" cy="1367223"/>
            <a:chOff x="0" y="0"/>
            <a:chExt cx="27800000" cy="182296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7800000" cy="1822964"/>
              <a:chOff x="0" y="0"/>
              <a:chExt cx="5491358" cy="36009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491358" cy="360092"/>
              </a:xfrm>
              <a:custGeom>
                <a:avLst/>
                <a:gdLst/>
                <a:ahLst/>
                <a:cxnLst/>
                <a:rect l="l" t="t" r="r" b="b"/>
                <a:pathLst>
                  <a:path w="5491358" h="360092">
                    <a:moveTo>
                      <a:pt x="8169" y="0"/>
                    </a:moveTo>
                    <a:lnTo>
                      <a:pt x="5483189" y="0"/>
                    </a:lnTo>
                    <a:cubicBezTo>
                      <a:pt x="5487701" y="0"/>
                      <a:pt x="5491358" y="3657"/>
                      <a:pt x="5491358" y="8169"/>
                    </a:cubicBezTo>
                    <a:lnTo>
                      <a:pt x="5491358" y="351923"/>
                    </a:lnTo>
                    <a:cubicBezTo>
                      <a:pt x="5491358" y="356434"/>
                      <a:pt x="5487701" y="360092"/>
                      <a:pt x="5483189" y="360092"/>
                    </a:cubicBezTo>
                    <a:lnTo>
                      <a:pt x="8169" y="360092"/>
                    </a:lnTo>
                    <a:cubicBezTo>
                      <a:pt x="3657" y="360092"/>
                      <a:pt x="0" y="356434"/>
                      <a:pt x="0" y="351923"/>
                    </a:cubicBezTo>
                    <a:lnTo>
                      <a:pt x="0" y="8169"/>
                    </a:lnTo>
                    <a:cubicBezTo>
                      <a:pt x="0" y="3657"/>
                      <a:pt x="3657" y="0"/>
                      <a:pt x="8169" y="0"/>
                    </a:cubicBezTo>
                    <a:close/>
                  </a:path>
                </a:pathLst>
              </a:custGeom>
              <a:solidFill>
                <a:srgbClr val="6EC6C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5491358" cy="3981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994848" y="202399"/>
              <a:ext cx="10049707" cy="1403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Desarrollar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una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plataforma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web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que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recomiende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equipos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componentes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según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las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necesidades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el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presupuesto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de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distintos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perfiles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 de </a:t>
              </a:r>
              <a:r>
                <a:rPr lang="en-US" sz="1999" dirty="0" err="1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usuario</a:t>
              </a:r>
              <a:r>
                <a:rPr lang="en-US" sz="1999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13994" y="-187195"/>
            <a:ext cx="6976094" cy="10661390"/>
            <a:chOff x="0" y="0"/>
            <a:chExt cx="1837325" cy="28079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37325" cy="2807938"/>
            </a:xfrm>
            <a:custGeom>
              <a:avLst/>
              <a:gdLst/>
              <a:ahLst/>
              <a:cxnLst/>
              <a:rect l="l" t="t" r="r" b="b"/>
              <a:pathLst>
                <a:path w="1837325" h="2807938">
                  <a:moveTo>
                    <a:pt x="0" y="0"/>
                  </a:moveTo>
                  <a:lnTo>
                    <a:pt x="1837325" y="0"/>
                  </a:lnTo>
                  <a:lnTo>
                    <a:pt x="1837325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F0DFC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37325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856269" y="2049242"/>
            <a:ext cx="2491546" cy="2196495"/>
          </a:xfrm>
          <a:custGeom>
            <a:avLst/>
            <a:gdLst/>
            <a:ahLst/>
            <a:cxnLst/>
            <a:rect l="l" t="t" r="r" b="b"/>
            <a:pathLst>
              <a:path w="2491546" h="2196495">
                <a:moveTo>
                  <a:pt x="0" y="0"/>
                </a:moveTo>
                <a:lnTo>
                  <a:pt x="2491546" y="0"/>
                </a:lnTo>
                <a:lnTo>
                  <a:pt x="2491546" y="2196495"/>
                </a:lnTo>
                <a:lnTo>
                  <a:pt x="0" y="219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11"/>
          <p:cNvGrpSpPr/>
          <p:nvPr/>
        </p:nvGrpSpPr>
        <p:grpSpPr>
          <a:xfrm>
            <a:off x="-902064" y="2684936"/>
            <a:ext cx="12063125" cy="2804664"/>
            <a:chOff x="0" y="0"/>
            <a:chExt cx="16084167" cy="373955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6084167" cy="3739552"/>
              <a:chOff x="0" y="0"/>
              <a:chExt cx="3177119" cy="7386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177119" cy="738677"/>
              </a:xfrm>
              <a:custGeom>
                <a:avLst/>
                <a:gdLst/>
                <a:ahLst/>
                <a:cxnLst/>
                <a:rect l="l" t="t" r="r" b="b"/>
                <a:pathLst>
                  <a:path w="3177119" h="738677">
                    <a:moveTo>
                      <a:pt x="14119" y="0"/>
                    </a:moveTo>
                    <a:lnTo>
                      <a:pt x="3163000" y="0"/>
                    </a:lnTo>
                    <a:cubicBezTo>
                      <a:pt x="3166745" y="0"/>
                      <a:pt x="3170336" y="1488"/>
                      <a:pt x="3172984" y="4135"/>
                    </a:cubicBezTo>
                    <a:cubicBezTo>
                      <a:pt x="3175632" y="6783"/>
                      <a:pt x="3177119" y="10375"/>
                      <a:pt x="3177119" y="14119"/>
                    </a:cubicBezTo>
                    <a:lnTo>
                      <a:pt x="3177119" y="724558"/>
                    </a:lnTo>
                    <a:cubicBezTo>
                      <a:pt x="3177119" y="728302"/>
                      <a:pt x="3175632" y="731894"/>
                      <a:pt x="3172984" y="734542"/>
                    </a:cubicBezTo>
                    <a:cubicBezTo>
                      <a:pt x="3170336" y="737189"/>
                      <a:pt x="3166745" y="738677"/>
                      <a:pt x="3163000" y="738677"/>
                    </a:cubicBezTo>
                    <a:lnTo>
                      <a:pt x="14119" y="738677"/>
                    </a:lnTo>
                    <a:cubicBezTo>
                      <a:pt x="10375" y="738677"/>
                      <a:pt x="6783" y="737189"/>
                      <a:pt x="4135" y="734542"/>
                    </a:cubicBezTo>
                    <a:cubicBezTo>
                      <a:pt x="1488" y="731894"/>
                      <a:pt x="0" y="728302"/>
                      <a:pt x="0" y="724558"/>
                    </a:cubicBezTo>
                    <a:lnTo>
                      <a:pt x="0" y="14119"/>
                    </a:lnTo>
                    <a:cubicBezTo>
                      <a:pt x="0" y="10375"/>
                      <a:pt x="1488" y="6783"/>
                      <a:pt x="4135" y="4135"/>
                    </a:cubicBezTo>
                    <a:cubicBezTo>
                      <a:pt x="6783" y="1488"/>
                      <a:pt x="10375" y="0"/>
                      <a:pt x="14119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177119" cy="7767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449285" y="567389"/>
              <a:ext cx="13068898" cy="309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05"/>
                </a:lnSpc>
                <a:spcBef>
                  <a:spcPct val="0"/>
                </a:spcBef>
              </a:pPr>
              <a:r>
                <a:rPr lang="en-US" sz="8646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OBJETIVO GENERAL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15017" y="4987684"/>
            <a:ext cx="3168794" cy="559462"/>
            <a:chOff x="0" y="0"/>
            <a:chExt cx="834580" cy="1473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34580" cy="147348"/>
            </a:xfrm>
            <a:custGeom>
              <a:avLst/>
              <a:gdLst/>
              <a:ahLst/>
              <a:cxnLst/>
              <a:rect l="l" t="t" r="r" b="b"/>
              <a:pathLst>
                <a:path w="834580" h="147348">
                  <a:moveTo>
                    <a:pt x="53750" y="0"/>
                  </a:moveTo>
                  <a:lnTo>
                    <a:pt x="780830" y="0"/>
                  </a:lnTo>
                  <a:cubicBezTo>
                    <a:pt x="795085" y="0"/>
                    <a:pt x="808757" y="5663"/>
                    <a:pt x="818837" y="15743"/>
                  </a:cubicBezTo>
                  <a:cubicBezTo>
                    <a:pt x="828917" y="25823"/>
                    <a:pt x="834580" y="39495"/>
                    <a:pt x="834580" y="53750"/>
                  </a:cubicBezTo>
                  <a:lnTo>
                    <a:pt x="834580" y="93598"/>
                  </a:lnTo>
                  <a:cubicBezTo>
                    <a:pt x="834580" y="107853"/>
                    <a:pt x="828917" y="121525"/>
                    <a:pt x="818837" y="131605"/>
                  </a:cubicBezTo>
                  <a:cubicBezTo>
                    <a:pt x="808757" y="141685"/>
                    <a:pt x="795085" y="147348"/>
                    <a:pt x="780830" y="147348"/>
                  </a:cubicBezTo>
                  <a:lnTo>
                    <a:pt x="53750" y="147348"/>
                  </a:lnTo>
                  <a:cubicBezTo>
                    <a:pt x="39495" y="147348"/>
                    <a:pt x="25823" y="141685"/>
                    <a:pt x="15743" y="131605"/>
                  </a:cubicBezTo>
                  <a:cubicBezTo>
                    <a:pt x="5663" y="121525"/>
                    <a:pt x="0" y="107853"/>
                    <a:pt x="0" y="93598"/>
                  </a:cubicBezTo>
                  <a:lnTo>
                    <a:pt x="0" y="53750"/>
                  </a:lnTo>
                  <a:cubicBezTo>
                    <a:pt x="0" y="39495"/>
                    <a:pt x="5663" y="25823"/>
                    <a:pt x="15743" y="15743"/>
                  </a:cubicBezTo>
                  <a:cubicBezTo>
                    <a:pt x="25823" y="5663"/>
                    <a:pt x="39495" y="0"/>
                    <a:pt x="537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34580" cy="18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115017" y="6046307"/>
            <a:ext cx="3577992" cy="559462"/>
            <a:chOff x="0" y="0"/>
            <a:chExt cx="942352" cy="1473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42352" cy="147348"/>
            </a:xfrm>
            <a:custGeom>
              <a:avLst/>
              <a:gdLst/>
              <a:ahLst/>
              <a:cxnLst/>
              <a:rect l="l" t="t" r="r" b="b"/>
              <a:pathLst>
                <a:path w="942352" h="147348">
                  <a:moveTo>
                    <a:pt x="47603" y="0"/>
                  </a:moveTo>
                  <a:lnTo>
                    <a:pt x="894749" y="0"/>
                  </a:lnTo>
                  <a:cubicBezTo>
                    <a:pt x="921039" y="0"/>
                    <a:pt x="942352" y="21312"/>
                    <a:pt x="942352" y="47603"/>
                  </a:cubicBezTo>
                  <a:lnTo>
                    <a:pt x="942352" y="99745"/>
                  </a:lnTo>
                  <a:cubicBezTo>
                    <a:pt x="942352" y="126035"/>
                    <a:pt x="921039" y="147348"/>
                    <a:pt x="894749" y="147348"/>
                  </a:cubicBezTo>
                  <a:lnTo>
                    <a:pt x="47603" y="147348"/>
                  </a:lnTo>
                  <a:cubicBezTo>
                    <a:pt x="21312" y="147348"/>
                    <a:pt x="0" y="126035"/>
                    <a:pt x="0" y="99745"/>
                  </a:cubicBezTo>
                  <a:lnTo>
                    <a:pt x="0" y="47603"/>
                  </a:lnTo>
                  <a:cubicBezTo>
                    <a:pt x="0" y="21312"/>
                    <a:pt x="21312" y="0"/>
                    <a:pt x="476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42352" cy="18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115017" y="7133799"/>
            <a:ext cx="4783356" cy="559462"/>
            <a:chOff x="0" y="0"/>
            <a:chExt cx="1259814" cy="1473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9814" cy="147348"/>
            </a:xfrm>
            <a:custGeom>
              <a:avLst/>
              <a:gdLst/>
              <a:ahLst/>
              <a:cxnLst/>
              <a:rect l="l" t="t" r="r" b="b"/>
              <a:pathLst>
                <a:path w="1259814" h="147348">
                  <a:moveTo>
                    <a:pt x="35607" y="0"/>
                  </a:moveTo>
                  <a:lnTo>
                    <a:pt x="1224207" y="0"/>
                  </a:lnTo>
                  <a:cubicBezTo>
                    <a:pt x="1243872" y="0"/>
                    <a:pt x="1259814" y="15942"/>
                    <a:pt x="1259814" y="35607"/>
                  </a:cubicBezTo>
                  <a:lnTo>
                    <a:pt x="1259814" y="111741"/>
                  </a:lnTo>
                  <a:cubicBezTo>
                    <a:pt x="1259814" y="131406"/>
                    <a:pt x="1243872" y="147348"/>
                    <a:pt x="1224207" y="147348"/>
                  </a:cubicBezTo>
                  <a:lnTo>
                    <a:pt x="35607" y="147348"/>
                  </a:lnTo>
                  <a:cubicBezTo>
                    <a:pt x="15942" y="147348"/>
                    <a:pt x="0" y="131406"/>
                    <a:pt x="0" y="111741"/>
                  </a:cubicBezTo>
                  <a:lnTo>
                    <a:pt x="0" y="35607"/>
                  </a:lnTo>
                  <a:cubicBezTo>
                    <a:pt x="0" y="15942"/>
                    <a:pt x="15942" y="0"/>
                    <a:pt x="356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259814" cy="18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95486" y="4915494"/>
            <a:ext cx="5802887" cy="2821086"/>
            <a:chOff x="0" y="0"/>
            <a:chExt cx="7737183" cy="3761448"/>
          </a:xfrm>
        </p:grpSpPr>
        <p:sp>
          <p:nvSpPr>
            <p:cNvPr id="26" name="Freeform 26"/>
            <p:cNvSpPr/>
            <p:nvPr/>
          </p:nvSpPr>
          <p:spPr>
            <a:xfrm>
              <a:off x="118694" y="0"/>
              <a:ext cx="922756" cy="896475"/>
            </a:xfrm>
            <a:custGeom>
              <a:avLst/>
              <a:gdLst/>
              <a:ahLst/>
              <a:cxnLst/>
              <a:rect l="l" t="t" r="r" b="b"/>
              <a:pathLst>
                <a:path w="922756" h="896475">
                  <a:moveTo>
                    <a:pt x="0" y="0"/>
                  </a:moveTo>
                  <a:lnTo>
                    <a:pt x="922756" y="0"/>
                  </a:lnTo>
                  <a:lnTo>
                    <a:pt x="922756" y="896475"/>
                  </a:lnTo>
                  <a:lnTo>
                    <a:pt x="0" y="89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03989" y="243479"/>
              <a:ext cx="4455227" cy="383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84"/>
                </a:lnSpc>
              </a:pPr>
              <a:r>
                <a:rPr lang="en-US" sz="1774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Optimizar la Búsqueda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98663" y="1430318"/>
              <a:ext cx="762819" cy="896475"/>
            </a:xfrm>
            <a:custGeom>
              <a:avLst/>
              <a:gdLst/>
              <a:ahLst/>
              <a:cxnLst/>
              <a:rect l="l" t="t" r="r" b="b"/>
              <a:pathLst>
                <a:path w="762819" h="896475">
                  <a:moveTo>
                    <a:pt x="0" y="0"/>
                  </a:moveTo>
                  <a:lnTo>
                    <a:pt x="762818" y="0"/>
                  </a:lnTo>
                  <a:lnTo>
                    <a:pt x="762818" y="896475"/>
                  </a:lnTo>
                  <a:lnTo>
                    <a:pt x="0" y="89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03989" y="1672428"/>
              <a:ext cx="4455227" cy="383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84"/>
                </a:lnSpc>
              </a:pPr>
              <a:r>
                <a:rPr lang="en-US" sz="1774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Garantizar la Compatibilidad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2864974"/>
              <a:ext cx="1160144" cy="896475"/>
            </a:xfrm>
            <a:custGeom>
              <a:avLst/>
              <a:gdLst/>
              <a:ahLst/>
              <a:cxnLst/>
              <a:rect l="l" t="t" r="r" b="b"/>
              <a:pathLst>
                <a:path w="1160144" h="896475">
                  <a:moveTo>
                    <a:pt x="0" y="0"/>
                  </a:moveTo>
                  <a:lnTo>
                    <a:pt x="1160144" y="0"/>
                  </a:lnTo>
                  <a:lnTo>
                    <a:pt x="1160144" y="896474"/>
                  </a:lnTo>
                  <a:lnTo>
                    <a:pt x="0" y="896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03989" y="3107083"/>
              <a:ext cx="6133193" cy="383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84"/>
                </a:lnSpc>
              </a:pPr>
              <a:r>
                <a:rPr lang="en-US" sz="1774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Mejorar la Relación Precio/Rendimiento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-729845" y="-279044"/>
            <a:ext cx="12516058" cy="3563714"/>
            <a:chOff x="0" y="0"/>
            <a:chExt cx="16688078" cy="4751618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6688078" cy="1249423"/>
              <a:chOff x="0" y="0"/>
              <a:chExt cx="3296410" cy="246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296410" cy="246800"/>
              </a:xfrm>
              <a:custGeom>
                <a:avLst/>
                <a:gdLst/>
                <a:ahLst/>
                <a:cxnLst/>
                <a:rect l="l" t="t" r="r" b="b"/>
                <a:pathLst>
                  <a:path w="3296410" h="246800">
                    <a:moveTo>
                      <a:pt x="13608" y="0"/>
                    </a:moveTo>
                    <a:lnTo>
                      <a:pt x="3282802" y="0"/>
                    </a:lnTo>
                    <a:cubicBezTo>
                      <a:pt x="3286411" y="0"/>
                      <a:pt x="3289872" y="1434"/>
                      <a:pt x="3292425" y="3986"/>
                    </a:cubicBezTo>
                    <a:cubicBezTo>
                      <a:pt x="3294977" y="6538"/>
                      <a:pt x="3296410" y="9999"/>
                      <a:pt x="3296410" y="13608"/>
                    </a:cubicBezTo>
                    <a:lnTo>
                      <a:pt x="3296410" y="233191"/>
                    </a:lnTo>
                    <a:cubicBezTo>
                      <a:pt x="3296410" y="240707"/>
                      <a:pt x="3290318" y="246800"/>
                      <a:pt x="3282802" y="246800"/>
                    </a:cubicBezTo>
                    <a:lnTo>
                      <a:pt x="13608" y="246800"/>
                    </a:lnTo>
                    <a:cubicBezTo>
                      <a:pt x="9999" y="246800"/>
                      <a:pt x="6538" y="245366"/>
                      <a:pt x="3986" y="242814"/>
                    </a:cubicBezTo>
                    <a:cubicBezTo>
                      <a:pt x="1434" y="240262"/>
                      <a:pt x="0" y="236801"/>
                      <a:pt x="0" y="233191"/>
                    </a:cubicBezTo>
                    <a:lnTo>
                      <a:pt x="0" y="13608"/>
                    </a:lnTo>
                    <a:cubicBezTo>
                      <a:pt x="0" y="9999"/>
                      <a:pt x="1434" y="6538"/>
                      <a:pt x="3986" y="3986"/>
                    </a:cubicBezTo>
                    <a:cubicBezTo>
                      <a:pt x="6538" y="1434"/>
                      <a:pt x="9999" y="0"/>
                      <a:pt x="13608" y="0"/>
                    </a:cubicBezTo>
                    <a:close/>
                  </a:path>
                </a:pathLst>
              </a:custGeom>
              <a:solidFill>
                <a:srgbClr val="F0DFC8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3296410" cy="284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224135" y="3137472"/>
              <a:ext cx="13625933" cy="1614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0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-1150399" y="9628732"/>
            <a:ext cx="12936612" cy="3480506"/>
            <a:chOff x="0" y="0"/>
            <a:chExt cx="17248815" cy="4640675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248815" cy="1220251"/>
              <a:chOff x="0" y="0"/>
              <a:chExt cx="3488628" cy="246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488628" cy="246800"/>
              </a:xfrm>
              <a:custGeom>
                <a:avLst/>
                <a:gdLst/>
                <a:ahLst/>
                <a:cxnLst/>
                <a:rect l="l" t="t" r="r" b="b"/>
                <a:pathLst>
                  <a:path w="3488628" h="246800">
                    <a:moveTo>
                      <a:pt x="12859" y="0"/>
                    </a:moveTo>
                    <a:lnTo>
                      <a:pt x="3475770" y="0"/>
                    </a:lnTo>
                    <a:cubicBezTo>
                      <a:pt x="3482871" y="0"/>
                      <a:pt x="3488628" y="5757"/>
                      <a:pt x="3488628" y="12859"/>
                    </a:cubicBezTo>
                    <a:lnTo>
                      <a:pt x="3488628" y="233941"/>
                    </a:lnTo>
                    <a:cubicBezTo>
                      <a:pt x="3488628" y="241043"/>
                      <a:pt x="3482871" y="246800"/>
                      <a:pt x="3475770" y="246800"/>
                    </a:cubicBezTo>
                    <a:lnTo>
                      <a:pt x="12859" y="246800"/>
                    </a:lnTo>
                    <a:cubicBezTo>
                      <a:pt x="5757" y="246800"/>
                      <a:pt x="0" y="241043"/>
                      <a:pt x="0" y="233941"/>
                    </a:cubicBezTo>
                    <a:lnTo>
                      <a:pt x="0" y="12859"/>
                    </a:lnTo>
                    <a:cubicBezTo>
                      <a:pt x="0" y="5757"/>
                      <a:pt x="5757" y="0"/>
                      <a:pt x="12859" y="0"/>
                    </a:cubicBezTo>
                    <a:close/>
                  </a:path>
                </a:pathLst>
              </a:custGeom>
              <a:solidFill>
                <a:srgbClr val="F0DFC8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3488628" cy="284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2298868" y="3076855"/>
              <a:ext cx="14083779" cy="1563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69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89561" y="4987684"/>
            <a:ext cx="311632" cy="311632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C6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109357" y="4987684"/>
            <a:ext cx="311632" cy="311632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03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29153" y="4987684"/>
            <a:ext cx="311632" cy="311632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968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>
            <a:off x="11786213" y="824251"/>
            <a:ext cx="6501787" cy="0"/>
          </a:xfrm>
          <a:prstGeom prst="line">
            <a:avLst/>
          </a:prstGeom>
          <a:ln w="190500" cap="flat">
            <a:solidFill>
              <a:srgbClr val="61A6AB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2" name="AutoShape 52"/>
          <p:cNvSpPr/>
          <p:nvPr/>
        </p:nvSpPr>
        <p:spPr>
          <a:xfrm flipV="1">
            <a:off x="11786213" y="9239250"/>
            <a:ext cx="6501787" cy="19050"/>
          </a:xfrm>
          <a:prstGeom prst="line">
            <a:avLst/>
          </a:prstGeom>
          <a:ln w="190500" cap="flat">
            <a:solidFill>
              <a:srgbClr val="61A6AB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3" name="Freeform 53"/>
          <p:cNvSpPr/>
          <p:nvPr/>
        </p:nvSpPr>
        <p:spPr>
          <a:xfrm rot="5400000">
            <a:off x="1561440" y="-570521"/>
            <a:ext cx="684442" cy="4277760"/>
          </a:xfrm>
          <a:custGeom>
            <a:avLst/>
            <a:gdLst/>
            <a:ahLst/>
            <a:cxnLst/>
            <a:rect l="l" t="t" r="r" b="b"/>
            <a:pathLst>
              <a:path w="684442" h="4277760">
                <a:moveTo>
                  <a:pt x="0" y="0"/>
                </a:moveTo>
                <a:lnTo>
                  <a:pt x="684442" y="0"/>
                </a:lnTo>
                <a:lnTo>
                  <a:pt x="684442" y="4277760"/>
                </a:lnTo>
                <a:lnTo>
                  <a:pt x="0" y="4277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4" name="Freeform 54"/>
          <p:cNvSpPr/>
          <p:nvPr/>
        </p:nvSpPr>
        <p:spPr>
          <a:xfrm rot="-5400000">
            <a:off x="9289645" y="6629152"/>
            <a:ext cx="641200" cy="4007498"/>
          </a:xfrm>
          <a:custGeom>
            <a:avLst/>
            <a:gdLst/>
            <a:ahLst/>
            <a:cxnLst/>
            <a:rect l="l" t="t" r="r" b="b"/>
            <a:pathLst>
              <a:path w="641200" h="4007498">
                <a:moveTo>
                  <a:pt x="0" y="0"/>
                </a:moveTo>
                <a:lnTo>
                  <a:pt x="641200" y="0"/>
                </a:lnTo>
                <a:lnTo>
                  <a:pt x="641200" y="4007498"/>
                </a:lnTo>
                <a:lnTo>
                  <a:pt x="0" y="40074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5" name="Freeform 55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78909" y="0"/>
            <a:ext cx="14409091" cy="10661390"/>
            <a:chOff x="0" y="0"/>
            <a:chExt cx="3794987" cy="2807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94987" cy="2807938"/>
            </a:xfrm>
            <a:custGeom>
              <a:avLst/>
              <a:gdLst/>
              <a:ahLst/>
              <a:cxnLst/>
              <a:rect l="l" t="t" r="r" b="b"/>
              <a:pathLst>
                <a:path w="3794987" h="2807938">
                  <a:moveTo>
                    <a:pt x="0" y="0"/>
                  </a:moveTo>
                  <a:lnTo>
                    <a:pt x="3794987" y="0"/>
                  </a:lnTo>
                  <a:lnTo>
                    <a:pt x="3794987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61A6A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794987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12518" y="3510190"/>
            <a:ext cx="15048036" cy="4813114"/>
            <a:chOff x="0" y="0"/>
            <a:chExt cx="20064048" cy="641748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654167"/>
              <a:ext cx="20064048" cy="5763318"/>
              <a:chOff x="0" y="0"/>
              <a:chExt cx="3963269" cy="11384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963269" cy="1138433"/>
              </a:xfrm>
              <a:custGeom>
                <a:avLst/>
                <a:gdLst/>
                <a:ahLst/>
                <a:cxnLst/>
                <a:rect l="l" t="t" r="r" b="b"/>
                <a:pathLst>
                  <a:path w="3963269" h="1138433">
                    <a:moveTo>
                      <a:pt x="11319" y="0"/>
                    </a:moveTo>
                    <a:lnTo>
                      <a:pt x="3951950" y="0"/>
                    </a:lnTo>
                    <a:cubicBezTo>
                      <a:pt x="3958201" y="0"/>
                      <a:pt x="3963269" y="5067"/>
                      <a:pt x="3963269" y="11319"/>
                    </a:cubicBezTo>
                    <a:lnTo>
                      <a:pt x="3963269" y="1127115"/>
                    </a:lnTo>
                    <a:cubicBezTo>
                      <a:pt x="3963269" y="1130116"/>
                      <a:pt x="3962076" y="1132995"/>
                      <a:pt x="3959953" y="1135118"/>
                    </a:cubicBezTo>
                    <a:cubicBezTo>
                      <a:pt x="3957831" y="1137241"/>
                      <a:pt x="3954952" y="1138433"/>
                      <a:pt x="3951950" y="1138433"/>
                    </a:cubicBezTo>
                    <a:lnTo>
                      <a:pt x="11319" y="1138433"/>
                    </a:lnTo>
                    <a:cubicBezTo>
                      <a:pt x="5067" y="1138433"/>
                      <a:pt x="0" y="1133366"/>
                      <a:pt x="0" y="1127115"/>
                    </a:cubicBezTo>
                    <a:lnTo>
                      <a:pt x="0" y="11319"/>
                    </a:lnTo>
                    <a:cubicBezTo>
                      <a:pt x="0" y="8317"/>
                      <a:pt x="1192" y="5438"/>
                      <a:pt x="3315" y="3315"/>
                    </a:cubicBezTo>
                    <a:cubicBezTo>
                      <a:pt x="5438" y="1192"/>
                      <a:pt x="8317" y="0"/>
                      <a:pt x="11319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963269" cy="1176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975850" y="133350"/>
              <a:ext cx="12121739" cy="1614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0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548531" y="4201808"/>
            <a:ext cx="4013552" cy="3933281"/>
          </a:xfrm>
          <a:custGeom>
            <a:avLst/>
            <a:gdLst/>
            <a:ahLst/>
            <a:cxnLst/>
            <a:rect l="l" t="t" r="r" b="b"/>
            <a:pathLst>
              <a:path w="4013552" h="3933281">
                <a:moveTo>
                  <a:pt x="0" y="0"/>
                </a:moveTo>
                <a:lnTo>
                  <a:pt x="4013551" y="0"/>
                </a:lnTo>
                <a:lnTo>
                  <a:pt x="4013551" y="3933281"/>
                </a:lnTo>
                <a:lnTo>
                  <a:pt x="0" y="3933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9026341" y="4201808"/>
            <a:ext cx="4013552" cy="3933281"/>
          </a:xfrm>
          <a:custGeom>
            <a:avLst/>
            <a:gdLst/>
            <a:ahLst/>
            <a:cxnLst/>
            <a:rect l="l" t="t" r="r" b="b"/>
            <a:pathLst>
              <a:path w="4013552" h="3933281">
                <a:moveTo>
                  <a:pt x="0" y="0"/>
                </a:moveTo>
                <a:lnTo>
                  <a:pt x="4013552" y="0"/>
                </a:lnTo>
                <a:lnTo>
                  <a:pt x="4013552" y="3933281"/>
                </a:lnTo>
                <a:lnTo>
                  <a:pt x="0" y="3933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3582818" y="4201808"/>
            <a:ext cx="4013552" cy="3933281"/>
          </a:xfrm>
          <a:custGeom>
            <a:avLst/>
            <a:gdLst/>
            <a:ahLst/>
            <a:cxnLst/>
            <a:rect l="l" t="t" r="r" b="b"/>
            <a:pathLst>
              <a:path w="4013552" h="3933281">
                <a:moveTo>
                  <a:pt x="0" y="0"/>
                </a:moveTo>
                <a:lnTo>
                  <a:pt x="4013552" y="0"/>
                </a:lnTo>
                <a:lnTo>
                  <a:pt x="4013552" y="3933281"/>
                </a:lnTo>
                <a:lnTo>
                  <a:pt x="0" y="3933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6077351" y="4689263"/>
            <a:ext cx="878570" cy="878570"/>
          </a:xfrm>
          <a:custGeom>
            <a:avLst/>
            <a:gdLst/>
            <a:ahLst/>
            <a:cxnLst/>
            <a:rect l="l" t="t" r="r" b="b"/>
            <a:pathLst>
              <a:path w="878570" h="878570">
                <a:moveTo>
                  <a:pt x="0" y="0"/>
                </a:moveTo>
                <a:lnTo>
                  <a:pt x="878570" y="0"/>
                </a:lnTo>
                <a:lnTo>
                  <a:pt x="878570" y="878570"/>
                </a:lnTo>
                <a:lnTo>
                  <a:pt x="0" y="87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0623634" y="4689263"/>
            <a:ext cx="793908" cy="878570"/>
          </a:xfrm>
          <a:custGeom>
            <a:avLst/>
            <a:gdLst/>
            <a:ahLst/>
            <a:cxnLst/>
            <a:rect l="l" t="t" r="r" b="b"/>
            <a:pathLst>
              <a:path w="793908" h="878570">
                <a:moveTo>
                  <a:pt x="0" y="0"/>
                </a:moveTo>
                <a:lnTo>
                  <a:pt x="793908" y="0"/>
                </a:lnTo>
                <a:lnTo>
                  <a:pt x="793908" y="878570"/>
                </a:lnTo>
                <a:lnTo>
                  <a:pt x="0" y="87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5150309" y="4689263"/>
            <a:ext cx="878570" cy="878570"/>
          </a:xfrm>
          <a:custGeom>
            <a:avLst/>
            <a:gdLst/>
            <a:ahLst/>
            <a:cxnLst/>
            <a:rect l="l" t="t" r="r" b="b"/>
            <a:pathLst>
              <a:path w="878570" h="878570">
                <a:moveTo>
                  <a:pt x="0" y="0"/>
                </a:moveTo>
                <a:lnTo>
                  <a:pt x="878570" y="0"/>
                </a:lnTo>
                <a:lnTo>
                  <a:pt x="878570" y="878570"/>
                </a:lnTo>
                <a:lnTo>
                  <a:pt x="0" y="87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6" name="Group 16"/>
          <p:cNvGrpSpPr/>
          <p:nvPr/>
        </p:nvGrpSpPr>
        <p:grpSpPr>
          <a:xfrm>
            <a:off x="5641348" y="-340300"/>
            <a:ext cx="10884214" cy="3817319"/>
            <a:chOff x="0" y="0"/>
            <a:chExt cx="14512285" cy="508975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4512285" cy="5089758"/>
              <a:chOff x="0" y="0"/>
              <a:chExt cx="2866624" cy="100538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866624" cy="1005384"/>
              </a:xfrm>
              <a:custGeom>
                <a:avLst/>
                <a:gdLst/>
                <a:ahLst/>
                <a:cxnLst/>
                <a:rect l="l" t="t" r="r" b="b"/>
                <a:pathLst>
                  <a:path w="2866624" h="1005384">
                    <a:moveTo>
                      <a:pt x="15649" y="0"/>
                    </a:moveTo>
                    <a:lnTo>
                      <a:pt x="2850976" y="0"/>
                    </a:lnTo>
                    <a:cubicBezTo>
                      <a:pt x="2859618" y="0"/>
                      <a:pt x="2866624" y="7006"/>
                      <a:pt x="2866624" y="15649"/>
                    </a:cubicBezTo>
                    <a:lnTo>
                      <a:pt x="2866624" y="989736"/>
                    </a:lnTo>
                    <a:cubicBezTo>
                      <a:pt x="2866624" y="993886"/>
                      <a:pt x="2864976" y="997866"/>
                      <a:pt x="2862041" y="1000801"/>
                    </a:cubicBezTo>
                    <a:cubicBezTo>
                      <a:pt x="2859106" y="1003736"/>
                      <a:pt x="2855126" y="1005384"/>
                      <a:pt x="2850976" y="1005384"/>
                    </a:cubicBezTo>
                    <a:lnTo>
                      <a:pt x="15649" y="1005384"/>
                    </a:lnTo>
                    <a:cubicBezTo>
                      <a:pt x="7006" y="1005384"/>
                      <a:pt x="0" y="998378"/>
                      <a:pt x="0" y="989736"/>
                    </a:cubicBezTo>
                    <a:lnTo>
                      <a:pt x="0" y="15649"/>
                    </a:lnTo>
                    <a:cubicBezTo>
                      <a:pt x="0" y="11498"/>
                      <a:pt x="1649" y="7518"/>
                      <a:pt x="4583" y="4583"/>
                    </a:cubicBezTo>
                    <a:cubicBezTo>
                      <a:pt x="7518" y="1649"/>
                      <a:pt x="11498" y="0"/>
                      <a:pt x="15649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866624" cy="10434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404077" y="2479584"/>
              <a:ext cx="12121739" cy="1614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05"/>
                </a:lnSpc>
                <a:spcBef>
                  <a:spcPct val="0"/>
                </a:spcBef>
              </a:pPr>
              <a:r>
                <a:rPr lang="en-US" sz="8646" dirty="0">
                  <a:solidFill>
                    <a:srgbClr val="291B25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IMPLEMENTACIÓN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94803" y="3764472"/>
            <a:ext cx="3617715" cy="3189302"/>
          </a:xfrm>
          <a:custGeom>
            <a:avLst/>
            <a:gdLst/>
            <a:ahLst/>
            <a:cxnLst/>
            <a:rect l="l" t="t" r="r" b="b"/>
            <a:pathLst>
              <a:path w="3617715" h="3189302">
                <a:moveTo>
                  <a:pt x="0" y="0"/>
                </a:moveTo>
                <a:lnTo>
                  <a:pt x="3617715" y="0"/>
                </a:lnTo>
                <a:lnTo>
                  <a:pt x="3617715" y="3189301"/>
                </a:lnTo>
                <a:lnTo>
                  <a:pt x="0" y="318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4845306" y="6318953"/>
            <a:ext cx="3342660" cy="12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dirty="0">
                <a:solidFill>
                  <a:srgbClr val="CD3F1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CONSTRUIR LA BASE DE DATOS</a:t>
            </a:r>
          </a:p>
          <a:p>
            <a:pPr algn="ctr">
              <a:lnSpc>
                <a:spcPts val="2153"/>
              </a:lnSpc>
            </a:pPr>
            <a:r>
              <a:rPr lang="en-US" sz="1538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(</a:t>
            </a:r>
            <a:r>
              <a:rPr lang="en-US" sz="1538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Usuarios</a:t>
            </a:r>
            <a:r>
              <a:rPr lang="en-US" sz="1538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, Roles y </a:t>
            </a:r>
            <a:r>
              <a:rPr lang="en-US" sz="1538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Catálogo</a:t>
            </a:r>
            <a:r>
              <a:rPr lang="en-US" sz="1538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 de </a:t>
            </a:r>
            <a:r>
              <a:rPr lang="en-US" sz="1538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Productos</a:t>
            </a:r>
            <a:r>
              <a:rPr lang="en-US" sz="1538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62182" y="6197706"/>
            <a:ext cx="3342660" cy="123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dirty="0">
                <a:solidFill>
                  <a:srgbClr val="CD3F1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DESARROLLAR EL MOTOR INTELIGENTE</a:t>
            </a:r>
          </a:p>
          <a:p>
            <a:pPr algn="ctr">
              <a:lnSpc>
                <a:spcPts val="2119"/>
              </a:lnSpc>
            </a:pPr>
            <a:r>
              <a:rPr lang="en-US" sz="1514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(</a:t>
            </a:r>
            <a:r>
              <a:rPr lang="en-US" sz="1514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Compatibilidad</a:t>
            </a:r>
            <a:r>
              <a:rPr lang="en-US" sz="1514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, </a:t>
            </a:r>
            <a:r>
              <a:rPr lang="en-US" sz="1514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Sugerencias</a:t>
            </a:r>
            <a:r>
              <a:rPr lang="en-US" sz="1514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 Y UX Visual)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025421" y="6197851"/>
            <a:ext cx="3342660" cy="12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dirty="0">
                <a:solidFill>
                  <a:srgbClr val="CD3F1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GARANTIZAR CALIDAD Y CONTROL</a:t>
            </a:r>
          </a:p>
          <a:p>
            <a:pPr algn="ctr">
              <a:lnSpc>
                <a:spcPts val="2135"/>
              </a:lnSpc>
            </a:pPr>
            <a:r>
              <a:rPr lang="en-US" sz="1525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(Administración, </a:t>
            </a:r>
            <a:r>
              <a:rPr lang="en-US" sz="1525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Métricas</a:t>
            </a:r>
            <a:r>
              <a:rPr lang="en-US" sz="1525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 y </a:t>
            </a:r>
            <a:r>
              <a:rPr lang="en-US" sz="1525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Pruebas</a:t>
            </a:r>
            <a:r>
              <a:rPr lang="en-US" sz="1525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 </a:t>
            </a:r>
            <a:r>
              <a:rPr lang="en-US" sz="1525" dirty="0" err="1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Unitarias</a:t>
            </a:r>
            <a:r>
              <a:rPr lang="en-US" sz="1525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ouvlo"/>
                <a:ea typeface="Touvlo"/>
                <a:cs typeface="Touvlo"/>
                <a:sym typeface="Touvlo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43403" y="5731005"/>
            <a:ext cx="746466" cy="308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FASE 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31769" y="5729076"/>
            <a:ext cx="903372" cy="308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FASE II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50309" y="5728793"/>
            <a:ext cx="878570" cy="308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29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FASE III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3983684" y="3275115"/>
            <a:ext cx="0" cy="6492240"/>
          </a:xfrm>
          <a:prstGeom prst="line">
            <a:avLst/>
          </a:prstGeom>
          <a:ln w="209550" cap="flat">
            <a:solidFill>
              <a:srgbClr val="61A6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9" name="AutoShape 29"/>
          <p:cNvSpPr/>
          <p:nvPr/>
        </p:nvSpPr>
        <p:spPr>
          <a:xfrm flipV="1">
            <a:off x="18183225" y="3110933"/>
            <a:ext cx="0" cy="6492240"/>
          </a:xfrm>
          <a:prstGeom prst="line">
            <a:avLst/>
          </a:prstGeom>
          <a:ln w="209550" cap="flat">
            <a:solidFill>
              <a:srgbClr val="61A6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0" name="Freeform 30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AB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2222" y="4816163"/>
            <a:ext cx="14483557" cy="4001805"/>
            <a:chOff x="0" y="0"/>
            <a:chExt cx="19311409" cy="533573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2515049"/>
              <a:ext cx="6322882" cy="2820690"/>
              <a:chOff x="0" y="0"/>
              <a:chExt cx="1248964" cy="5571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76295" y="1314116"/>
              <a:ext cx="5970294" cy="830399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MODELO ÁGIL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Trabajo</a:t>
              </a:r>
              <a:r>
                <a:rPr lang="en-US" sz="160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 iterative e incremental.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2536993" y="0"/>
              <a:ext cx="1248896" cy="1248896"/>
            </a:xfrm>
            <a:custGeom>
              <a:avLst/>
              <a:gdLst/>
              <a:ahLst/>
              <a:cxnLst/>
              <a:rect l="l" t="t" r="r" b="b"/>
              <a:pathLst>
                <a:path w="1248896" h="1248896">
                  <a:moveTo>
                    <a:pt x="0" y="0"/>
                  </a:moveTo>
                  <a:lnTo>
                    <a:pt x="1248896" y="0"/>
                  </a:lnTo>
                  <a:lnTo>
                    <a:pt x="1248896" y="1248896"/>
                  </a:lnTo>
                  <a:lnTo>
                    <a:pt x="0" y="1248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176294" y="2646222"/>
              <a:ext cx="5963148" cy="2520399"/>
            </a:xfrm>
            <a:custGeom>
              <a:avLst/>
              <a:gdLst/>
              <a:ahLst/>
              <a:cxnLst/>
              <a:rect l="l" t="t" r="r" b="b"/>
              <a:pathLst>
                <a:path w="5963148" h="2520399">
                  <a:moveTo>
                    <a:pt x="0" y="0"/>
                  </a:moveTo>
                  <a:lnTo>
                    <a:pt x="5963148" y="0"/>
                  </a:lnTo>
                  <a:lnTo>
                    <a:pt x="5963148" y="2520399"/>
                  </a:lnTo>
                  <a:lnTo>
                    <a:pt x="0" y="2520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8503" b="-8503"/>
              </a:stretch>
            </a:blipFill>
            <a:ln w="19050" cap="sq">
              <a:solidFill>
                <a:srgbClr val="F7EBE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87053" y="3006073"/>
              <a:ext cx="4130048" cy="28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Ciclos semanales (Sprints).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87053" y="4543991"/>
              <a:ext cx="4130048" cy="28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Entregas constantes de valor.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6378" y="4376861"/>
              <a:ext cx="815464" cy="544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6"/>
                </a:lnSpc>
              </a:pPr>
              <a:r>
                <a:rPr lang="en-US" sz="2483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372" y="2956207"/>
              <a:ext cx="815464" cy="544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6"/>
                </a:lnSpc>
              </a:pPr>
              <a:r>
                <a:rPr lang="en-US" sz="2483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*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2988527" y="2515049"/>
              <a:ext cx="6322882" cy="2820690"/>
              <a:chOff x="0" y="0"/>
              <a:chExt cx="1248964" cy="55717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861573" y="1310554"/>
              <a:ext cx="4533479" cy="842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ROLES Y QA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Hammersmith One"/>
                  <a:ea typeface="Hammersmith One"/>
                  <a:cs typeface="Hammersmith One"/>
                  <a:sym typeface="Hammersmith One"/>
                </a:rPr>
                <a:t>Roles </a:t>
              </a:r>
              <a:r>
                <a:rPr lang="en-US" sz="1599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Hammersmith One"/>
                  <a:ea typeface="Hammersmith One"/>
                  <a:cs typeface="Hammersmith One"/>
                  <a:sym typeface="Hammersmith One"/>
                </a:rPr>
                <a:t>definidos</a:t>
              </a:r>
              <a:r>
                <a:rPr lang="en-US" sz="159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Hammersmith One"/>
                  <a:ea typeface="Hammersmith One"/>
                  <a:cs typeface="Hammersmith One"/>
                  <a:sym typeface="Hammersmith One"/>
                </a:rPr>
                <a:t> y revision </a:t>
              </a:r>
              <a:r>
                <a:rPr lang="en-US" sz="1599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Hammersmith One"/>
                  <a:ea typeface="Hammersmith One"/>
                  <a:cs typeface="Hammersmith One"/>
                  <a:sym typeface="Hammersmith One"/>
                </a:rPr>
                <a:t>cruzada</a:t>
              </a:r>
              <a:r>
                <a:rPr lang="en-US" sz="159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Hammersmith One"/>
                  <a:ea typeface="Hammersmith One"/>
                  <a:cs typeface="Hammersmith One"/>
                  <a:sym typeface="Hammersmith One"/>
                </a:rPr>
                <a:t>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365089" y="151146"/>
              <a:ext cx="1526446" cy="934948"/>
            </a:xfrm>
            <a:custGeom>
              <a:avLst/>
              <a:gdLst/>
              <a:ahLst/>
              <a:cxnLst/>
              <a:rect l="l" t="t" r="r" b="b"/>
              <a:pathLst>
                <a:path w="1526446" h="934948">
                  <a:moveTo>
                    <a:pt x="0" y="0"/>
                  </a:moveTo>
                  <a:lnTo>
                    <a:pt x="1526446" y="0"/>
                  </a:lnTo>
                  <a:lnTo>
                    <a:pt x="1526446" y="934948"/>
                  </a:lnTo>
                  <a:lnTo>
                    <a:pt x="0" y="934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3146738" y="2646222"/>
              <a:ext cx="5963148" cy="2520399"/>
            </a:xfrm>
            <a:custGeom>
              <a:avLst/>
              <a:gdLst/>
              <a:ahLst/>
              <a:cxnLst/>
              <a:rect l="l" t="t" r="r" b="b"/>
              <a:pathLst>
                <a:path w="5963148" h="2520399">
                  <a:moveTo>
                    <a:pt x="0" y="0"/>
                  </a:moveTo>
                  <a:lnTo>
                    <a:pt x="5963148" y="0"/>
                  </a:lnTo>
                  <a:lnTo>
                    <a:pt x="5963148" y="2520399"/>
                  </a:lnTo>
                  <a:lnTo>
                    <a:pt x="0" y="2520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8503" b="-8503"/>
              </a:stretch>
            </a:blipFill>
            <a:ln w="19050" cap="sq">
              <a:solidFill>
                <a:srgbClr val="F7EBE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52316" y="3019002"/>
              <a:ext cx="4682796" cy="6277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913"/>
                </a:lnSpc>
              </a:pPr>
              <a:r>
                <a:rPr lang="en-US" sz="1366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Scrum master / Developer Principal / QA tester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07777" y="4558460"/>
              <a:ext cx="4502108" cy="3029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913"/>
                </a:lnSpc>
              </a:pPr>
              <a:r>
                <a:rPr lang="en-US" sz="1366" dirty="0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Product Owner / UX / QA tester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01532" y="4306225"/>
              <a:ext cx="1074687" cy="600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Carlos</a:t>
              </a:r>
            </a:p>
            <a:p>
              <a:pPr algn="ctr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Saavedra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66857" y="2862054"/>
              <a:ext cx="908563" cy="600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Cristian Nuñez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80274" y="2515049"/>
              <a:ext cx="6322882" cy="2820690"/>
              <a:chOff x="0" y="0"/>
              <a:chExt cx="1248964" cy="55717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7524031" y="1337648"/>
              <a:ext cx="4235369" cy="830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1"/>
                </a:lnSpc>
              </a:pPr>
              <a:r>
                <a:rPr lang="en-US" sz="199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PROCESO</a:t>
              </a:r>
            </a:p>
            <a:p>
              <a:pPr algn="ctr">
                <a:lnSpc>
                  <a:spcPts val="2245"/>
                </a:lnSpc>
              </a:pPr>
              <a:r>
                <a:rPr lang="en-US" sz="1603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Etapas</a:t>
              </a:r>
              <a:r>
                <a:rPr lang="en-US" sz="160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603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coordinación</a:t>
              </a:r>
              <a:r>
                <a:rPr lang="en-US" sz="160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semanal</a:t>
              </a:r>
              <a:r>
                <a:rPr lang="en-US" sz="1603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844856" y="0"/>
              <a:ext cx="1593719" cy="1248896"/>
            </a:xfrm>
            <a:custGeom>
              <a:avLst/>
              <a:gdLst/>
              <a:ahLst/>
              <a:cxnLst/>
              <a:rect l="l" t="t" r="r" b="b"/>
              <a:pathLst>
                <a:path w="1593719" h="1248896">
                  <a:moveTo>
                    <a:pt x="0" y="0"/>
                  </a:moveTo>
                  <a:lnTo>
                    <a:pt x="1593719" y="0"/>
                  </a:lnTo>
                  <a:lnTo>
                    <a:pt x="1593719" y="1248896"/>
                  </a:lnTo>
                  <a:lnTo>
                    <a:pt x="0" y="1248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6660142" y="2646222"/>
              <a:ext cx="5963148" cy="2520399"/>
            </a:xfrm>
            <a:custGeom>
              <a:avLst/>
              <a:gdLst/>
              <a:ahLst/>
              <a:cxnLst/>
              <a:rect l="l" t="t" r="r" b="b"/>
              <a:pathLst>
                <a:path w="5963148" h="2520399">
                  <a:moveTo>
                    <a:pt x="0" y="0"/>
                  </a:moveTo>
                  <a:lnTo>
                    <a:pt x="5963148" y="0"/>
                  </a:lnTo>
                  <a:lnTo>
                    <a:pt x="5963148" y="2520399"/>
                  </a:lnTo>
                  <a:lnTo>
                    <a:pt x="0" y="2520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8503" b="-8503"/>
              </a:stretch>
            </a:blipFill>
            <a:ln w="19050" cap="sq">
              <a:solidFill>
                <a:srgbClr val="F7EBE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57685" y="4487286"/>
              <a:ext cx="4130048" cy="28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Priorización de funcionalidad.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57685" y="2970522"/>
              <a:ext cx="4130048" cy="28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Restrospectivas de ajuste.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7710" y="4351461"/>
              <a:ext cx="815464" cy="544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6"/>
                </a:lnSpc>
              </a:pPr>
              <a:r>
                <a:rPr lang="en-US" sz="2483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*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65010" y="2956207"/>
              <a:ext cx="815464" cy="544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6"/>
                </a:lnSpc>
              </a:pPr>
              <a:r>
                <a:rPr lang="en-US" sz="2483">
                  <a:solidFill>
                    <a:srgbClr val="303030"/>
                  </a:solidFill>
                  <a:latin typeface="Touvlo"/>
                  <a:ea typeface="Touvlo"/>
                  <a:cs typeface="Touvlo"/>
                  <a:sym typeface="Touvlo"/>
                </a:rPr>
                <a:t>*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71460" y="-897680"/>
            <a:ext cx="10853879" cy="3806886"/>
            <a:chOff x="0" y="0"/>
            <a:chExt cx="14471838" cy="5075848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4471838" cy="5075848"/>
              <a:chOff x="0" y="0"/>
              <a:chExt cx="2858635" cy="100263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858635" cy="1002637"/>
              </a:xfrm>
              <a:custGeom>
                <a:avLst/>
                <a:gdLst/>
                <a:ahLst/>
                <a:cxnLst/>
                <a:rect l="l" t="t" r="r" b="b"/>
                <a:pathLst>
                  <a:path w="2858635" h="1002637">
                    <a:moveTo>
                      <a:pt x="15692" y="0"/>
                    </a:moveTo>
                    <a:lnTo>
                      <a:pt x="2842942" y="0"/>
                    </a:lnTo>
                    <a:cubicBezTo>
                      <a:pt x="2847104" y="0"/>
                      <a:pt x="2851096" y="1653"/>
                      <a:pt x="2854038" y="4596"/>
                    </a:cubicBezTo>
                    <a:cubicBezTo>
                      <a:pt x="2856981" y="7539"/>
                      <a:pt x="2858635" y="11530"/>
                      <a:pt x="2858635" y="15692"/>
                    </a:cubicBezTo>
                    <a:lnTo>
                      <a:pt x="2858635" y="986944"/>
                    </a:lnTo>
                    <a:cubicBezTo>
                      <a:pt x="2858635" y="991106"/>
                      <a:pt x="2856981" y="995098"/>
                      <a:pt x="2854038" y="998041"/>
                    </a:cubicBezTo>
                    <a:cubicBezTo>
                      <a:pt x="2851096" y="1000983"/>
                      <a:pt x="2847104" y="1002637"/>
                      <a:pt x="2842942" y="1002637"/>
                    </a:cubicBezTo>
                    <a:lnTo>
                      <a:pt x="15692" y="1002637"/>
                    </a:lnTo>
                    <a:cubicBezTo>
                      <a:pt x="11530" y="1002637"/>
                      <a:pt x="7539" y="1000983"/>
                      <a:pt x="4596" y="998041"/>
                    </a:cubicBezTo>
                    <a:cubicBezTo>
                      <a:pt x="1653" y="995098"/>
                      <a:pt x="0" y="991106"/>
                      <a:pt x="0" y="986944"/>
                    </a:cubicBezTo>
                    <a:lnTo>
                      <a:pt x="0" y="15692"/>
                    </a:lnTo>
                    <a:cubicBezTo>
                      <a:pt x="0" y="11530"/>
                      <a:pt x="1653" y="7539"/>
                      <a:pt x="4596" y="4596"/>
                    </a:cubicBezTo>
                    <a:cubicBezTo>
                      <a:pt x="7539" y="1653"/>
                      <a:pt x="11530" y="0"/>
                      <a:pt x="15692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2858635" cy="104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0" y="2801467"/>
              <a:ext cx="14437658" cy="1472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METODOLOGÍA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-22257356" y="452910"/>
            <a:ext cx="25602321" cy="8008366"/>
            <a:chOff x="0" y="0"/>
            <a:chExt cx="34136428" cy="10677822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34136428" cy="3188485"/>
              <a:chOff x="0" y="0"/>
              <a:chExt cx="3483535" cy="32537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483535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83535" h="325377">
                    <a:moveTo>
                      <a:pt x="12877" y="0"/>
                    </a:moveTo>
                    <a:lnTo>
                      <a:pt x="3470658" y="0"/>
                    </a:lnTo>
                    <a:cubicBezTo>
                      <a:pt x="3474072" y="0"/>
                      <a:pt x="3477348" y="1357"/>
                      <a:pt x="3479763" y="3772"/>
                    </a:cubicBezTo>
                    <a:cubicBezTo>
                      <a:pt x="3482178" y="6187"/>
                      <a:pt x="3483535" y="9462"/>
                      <a:pt x="3483535" y="12877"/>
                    </a:cubicBezTo>
                    <a:lnTo>
                      <a:pt x="3483535" y="312499"/>
                    </a:lnTo>
                    <a:cubicBezTo>
                      <a:pt x="3483535" y="315915"/>
                      <a:pt x="3482178" y="319190"/>
                      <a:pt x="3479763" y="321605"/>
                    </a:cubicBezTo>
                    <a:cubicBezTo>
                      <a:pt x="3477348" y="324020"/>
                      <a:pt x="3474072" y="325377"/>
                      <a:pt x="3470658" y="325377"/>
                    </a:cubicBezTo>
                    <a:lnTo>
                      <a:pt x="12877" y="325377"/>
                    </a:lnTo>
                    <a:cubicBezTo>
                      <a:pt x="9462" y="325377"/>
                      <a:pt x="6187" y="324020"/>
                      <a:pt x="3772" y="321605"/>
                    </a:cubicBezTo>
                    <a:cubicBezTo>
                      <a:pt x="1357" y="319190"/>
                      <a:pt x="0" y="315915"/>
                      <a:pt x="0" y="312499"/>
                    </a:cubicBezTo>
                    <a:lnTo>
                      <a:pt x="0" y="12877"/>
                    </a:lnTo>
                    <a:cubicBezTo>
                      <a:pt x="0" y="9462"/>
                      <a:pt x="1357" y="6187"/>
                      <a:pt x="3772" y="3772"/>
                    </a:cubicBezTo>
                    <a:cubicBezTo>
                      <a:pt x="6187" y="1357"/>
                      <a:pt x="9462" y="0"/>
                      <a:pt x="12877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3483535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956148" y="7317311"/>
              <a:ext cx="21918964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</p:grpSp>
      <p:sp>
        <p:nvSpPr>
          <p:cNvPr id="43" name="AutoShape 43"/>
          <p:cNvSpPr/>
          <p:nvPr/>
        </p:nvSpPr>
        <p:spPr>
          <a:xfrm>
            <a:off x="1350401" y="3861706"/>
            <a:ext cx="15587198" cy="0"/>
          </a:xfrm>
          <a:prstGeom prst="line">
            <a:avLst/>
          </a:prstGeom>
          <a:ln w="190500" cap="flat">
            <a:solidFill>
              <a:srgbClr val="30303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4" name="AutoShape 44"/>
          <p:cNvSpPr/>
          <p:nvPr/>
        </p:nvSpPr>
        <p:spPr>
          <a:xfrm flipV="1">
            <a:off x="572368" y="4457093"/>
            <a:ext cx="0" cy="4785319"/>
          </a:xfrm>
          <a:prstGeom prst="line">
            <a:avLst/>
          </a:prstGeom>
          <a:ln w="190500" cap="flat">
            <a:solidFill>
              <a:srgbClr val="30303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5" name="AutoShape 45"/>
          <p:cNvSpPr/>
          <p:nvPr/>
        </p:nvSpPr>
        <p:spPr>
          <a:xfrm flipV="1">
            <a:off x="17739245" y="4508336"/>
            <a:ext cx="0" cy="4785226"/>
          </a:xfrm>
          <a:prstGeom prst="line">
            <a:avLst/>
          </a:prstGeom>
          <a:ln w="190500" cap="flat">
            <a:solidFill>
              <a:srgbClr val="30303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6" name="AutoShape 46"/>
          <p:cNvSpPr/>
          <p:nvPr/>
        </p:nvSpPr>
        <p:spPr>
          <a:xfrm>
            <a:off x="1350401" y="9772424"/>
            <a:ext cx="15587198" cy="0"/>
          </a:xfrm>
          <a:prstGeom prst="line">
            <a:avLst/>
          </a:prstGeom>
          <a:ln w="190500" cap="flat">
            <a:solidFill>
              <a:srgbClr val="30303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7" name="Freeform 47"/>
          <p:cNvSpPr/>
          <p:nvPr/>
        </p:nvSpPr>
        <p:spPr>
          <a:xfrm>
            <a:off x="441300" y="572277"/>
            <a:ext cx="2440311" cy="2151327"/>
          </a:xfrm>
          <a:custGeom>
            <a:avLst/>
            <a:gdLst/>
            <a:ahLst/>
            <a:cxnLst/>
            <a:rect l="l" t="t" r="r" b="b"/>
            <a:pathLst>
              <a:path w="2440311" h="2151327">
                <a:moveTo>
                  <a:pt x="0" y="0"/>
                </a:moveTo>
                <a:lnTo>
                  <a:pt x="2440311" y="0"/>
                </a:lnTo>
                <a:lnTo>
                  <a:pt x="2440311" y="2151327"/>
                </a:lnTo>
                <a:lnTo>
                  <a:pt x="0" y="2151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8" name="Freeform 48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782" y="-7463962"/>
            <a:ext cx="19013564" cy="10661390"/>
            <a:chOff x="0" y="0"/>
            <a:chExt cx="5007688" cy="2807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7688" cy="2807938"/>
            </a:xfrm>
            <a:custGeom>
              <a:avLst/>
              <a:gdLst/>
              <a:ahLst/>
              <a:cxnLst/>
              <a:rect l="l" t="t" r="r" b="b"/>
              <a:pathLst>
                <a:path w="5007688" h="2807938">
                  <a:moveTo>
                    <a:pt x="0" y="0"/>
                  </a:moveTo>
                  <a:lnTo>
                    <a:pt x="5007688" y="0"/>
                  </a:lnTo>
                  <a:lnTo>
                    <a:pt x="5007688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EECA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07688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2257356" y="452910"/>
            <a:ext cx="25602321" cy="8008366"/>
            <a:chOff x="0" y="0"/>
            <a:chExt cx="34136428" cy="1067782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4136428" cy="3188485"/>
              <a:chOff x="0" y="0"/>
              <a:chExt cx="3483535" cy="32537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483535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83535" h="325377">
                    <a:moveTo>
                      <a:pt x="12877" y="0"/>
                    </a:moveTo>
                    <a:lnTo>
                      <a:pt x="3470658" y="0"/>
                    </a:lnTo>
                    <a:cubicBezTo>
                      <a:pt x="3474072" y="0"/>
                      <a:pt x="3477348" y="1357"/>
                      <a:pt x="3479763" y="3772"/>
                    </a:cubicBezTo>
                    <a:cubicBezTo>
                      <a:pt x="3482178" y="6187"/>
                      <a:pt x="3483535" y="9462"/>
                      <a:pt x="3483535" y="12877"/>
                    </a:cubicBezTo>
                    <a:lnTo>
                      <a:pt x="3483535" y="312499"/>
                    </a:lnTo>
                    <a:cubicBezTo>
                      <a:pt x="3483535" y="315915"/>
                      <a:pt x="3482178" y="319190"/>
                      <a:pt x="3479763" y="321605"/>
                    </a:cubicBezTo>
                    <a:cubicBezTo>
                      <a:pt x="3477348" y="324020"/>
                      <a:pt x="3474072" y="325377"/>
                      <a:pt x="3470658" y="325377"/>
                    </a:cubicBezTo>
                    <a:lnTo>
                      <a:pt x="12877" y="325377"/>
                    </a:lnTo>
                    <a:cubicBezTo>
                      <a:pt x="9462" y="325377"/>
                      <a:pt x="6187" y="324020"/>
                      <a:pt x="3772" y="321605"/>
                    </a:cubicBezTo>
                    <a:cubicBezTo>
                      <a:pt x="1357" y="319190"/>
                      <a:pt x="0" y="315915"/>
                      <a:pt x="0" y="312499"/>
                    </a:cubicBezTo>
                    <a:lnTo>
                      <a:pt x="0" y="12877"/>
                    </a:lnTo>
                    <a:cubicBezTo>
                      <a:pt x="0" y="9462"/>
                      <a:pt x="1357" y="6187"/>
                      <a:pt x="3772" y="3772"/>
                    </a:cubicBezTo>
                    <a:cubicBezTo>
                      <a:pt x="6187" y="1357"/>
                      <a:pt x="9462" y="0"/>
                      <a:pt x="12877" y="0"/>
                    </a:cubicBezTo>
                    <a:close/>
                  </a:path>
                </a:pathLst>
              </a:custGeom>
              <a:solidFill>
                <a:srgbClr val="61A6AB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483535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956148" y="7317311"/>
              <a:ext cx="21918964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92753" y="5044884"/>
            <a:ext cx="13902495" cy="482101"/>
            <a:chOff x="0" y="0"/>
            <a:chExt cx="18536659" cy="6428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47396" cy="642802"/>
            </a:xfrm>
            <a:custGeom>
              <a:avLst/>
              <a:gdLst/>
              <a:ahLst/>
              <a:cxnLst/>
              <a:rect l="l" t="t" r="r" b="b"/>
              <a:pathLst>
                <a:path w="6247396" h="642802">
                  <a:moveTo>
                    <a:pt x="0" y="0"/>
                  </a:moveTo>
                  <a:lnTo>
                    <a:pt x="6247396" y="0"/>
                  </a:lnTo>
                  <a:lnTo>
                    <a:pt x="6247396" y="642802"/>
                  </a:lnTo>
                  <a:lnTo>
                    <a:pt x="0" y="642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145779" y="0"/>
              <a:ext cx="6247396" cy="642802"/>
            </a:xfrm>
            <a:custGeom>
              <a:avLst/>
              <a:gdLst/>
              <a:ahLst/>
              <a:cxnLst/>
              <a:rect l="l" t="t" r="r" b="b"/>
              <a:pathLst>
                <a:path w="6247396" h="642802">
                  <a:moveTo>
                    <a:pt x="0" y="0"/>
                  </a:moveTo>
                  <a:lnTo>
                    <a:pt x="6247396" y="0"/>
                  </a:lnTo>
                  <a:lnTo>
                    <a:pt x="6247396" y="642802"/>
                  </a:lnTo>
                  <a:lnTo>
                    <a:pt x="0" y="642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289263" y="0"/>
              <a:ext cx="6247396" cy="642802"/>
            </a:xfrm>
            <a:custGeom>
              <a:avLst/>
              <a:gdLst/>
              <a:ahLst/>
              <a:cxnLst/>
              <a:rect l="l" t="t" r="r" b="b"/>
              <a:pathLst>
                <a:path w="6247396" h="642802">
                  <a:moveTo>
                    <a:pt x="0" y="0"/>
                  </a:moveTo>
                  <a:lnTo>
                    <a:pt x="6247396" y="0"/>
                  </a:lnTo>
                  <a:lnTo>
                    <a:pt x="6247396" y="642802"/>
                  </a:lnTo>
                  <a:lnTo>
                    <a:pt x="0" y="642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92753" y="6663751"/>
            <a:ext cx="13914756" cy="2928659"/>
            <a:chOff x="0" y="-129468"/>
            <a:chExt cx="18553007" cy="390487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368547" cy="1424201"/>
              <a:chOff x="0" y="0"/>
              <a:chExt cx="665392" cy="2813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61A6A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379" y="2737"/>
                <a:ext cx="626633" cy="2785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 err="1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Definición</a:t>
                </a:r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 de </a:t>
                </a:r>
                <a:r>
                  <a:rPr lang="en-US" sz="1600" dirty="0" err="1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Requisitos</a:t>
                </a:r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Touvlo"/>
                  <a:ea typeface="Touvlo"/>
                  <a:cs typeface="Touvlo"/>
                  <a:sym typeface="Touvlo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579283" y="2172184"/>
              <a:ext cx="3386570" cy="1603226"/>
              <a:chOff x="0" y="-8263"/>
              <a:chExt cx="668952" cy="3166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FFB1A5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60" y="-8263"/>
                <a:ext cx="665392" cy="316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 err="1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Definición</a:t>
                </a:r>
                <a:r>
                  <a:rPr lang="en-US" sz="1600" dirty="0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 de </a:t>
                </a:r>
                <a:r>
                  <a:rPr lang="en-US" sz="1600" dirty="0" err="1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Arquitecctura</a:t>
                </a:r>
                <a:endParaRPr lang="en-US" sz="1600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052820" y="-96440"/>
              <a:ext cx="3368547" cy="1603226"/>
              <a:chOff x="0" y="-19050"/>
              <a:chExt cx="665392" cy="3166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7867B4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724" y="-19050"/>
                <a:ext cx="627943" cy="316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 err="1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Consutrucción</a:t>
                </a:r>
                <a:r>
                  <a:rPr lang="en-US" sz="1600" dirty="0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 del Motor de </a:t>
                </a:r>
                <a:r>
                  <a:rPr lang="en-US" sz="1600" dirty="0" err="1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recomendación</a:t>
                </a:r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Touvlo"/>
                  <a:ea typeface="Touvlo"/>
                  <a:cs typeface="Touvlo"/>
                  <a:sym typeface="Touvlo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523001" y="2128763"/>
              <a:ext cx="3368547" cy="1603226"/>
              <a:chOff x="0" y="-16840"/>
              <a:chExt cx="665392" cy="31668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FFCE6D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6840"/>
                <a:ext cx="665392" cy="316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QA </a:t>
                </a:r>
                <a:r>
                  <a:rPr lang="en-US" sz="1600" dirty="0" err="1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Completo</a:t>
                </a:r>
                <a:endParaRPr lang="en-US" sz="1600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5168113" y="-117992"/>
              <a:ext cx="3384894" cy="1603226"/>
              <a:chOff x="0" y="-23307"/>
              <a:chExt cx="668621" cy="31668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C2E6DD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229" y="-23307"/>
                <a:ext cx="665392" cy="316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Ajustes</a:t>
                </a: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 Finales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2466348" y="2131162"/>
              <a:ext cx="3368547" cy="1603226"/>
              <a:chOff x="0" y="-16366"/>
              <a:chExt cx="665392" cy="31668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E2A9F1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16366"/>
                <a:ext cx="665392" cy="316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 err="1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Pruebas</a:t>
                </a:r>
                <a:r>
                  <a:rPr lang="en-US" sz="1600" dirty="0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 </a:t>
                </a:r>
                <a:r>
                  <a:rPr lang="en-US" sz="1600" dirty="0" err="1">
                    <a:solidFill>
                      <a:srgbClr val="000000"/>
                    </a:solidFill>
                    <a:latin typeface="Touvlo"/>
                    <a:ea typeface="Touvlo"/>
                    <a:cs typeface="Touvlo"/>
                    <a:sym typeface="Touvlo"/>
                  </a:rPr>
                  <a:t>Formales</a:t>
                </a:r>
                <a:endParaRPr lang="en-US" sz="1600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093577" y="-129468"/>
              <a:ext cx="3385436" cy="1603226"/>
              <a:chOff x="-3336" y="-25574"/>
              <a:chExt cx="668728" cy="3166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65392" cy="278587"/>
              </a:xfrm>
              <a:custGeom>
                <a:avLst/>
                <a:gdLst/>
                <a:ahLst/>
                <a:cxnLst/>
                <a:rect l="l" t="t" r="r" b="b"/>
                <a:pathLst>
                  <a:path w="665392" h="278587">
                    <a:moveTo>
                      <a:pt x="67417" y="0"/>
                    </a:moveTo>
                    <a:lnTo>
                      <a:pt x="597975" y="0"/>
                    </a:lnTo>
                    <a:cubicBezTo>
                      <a:pt x="635208" y="0"/>
                      <a:pt x="665392" y="30183"/>
                      <a:pt x="665392" y="67417"/>
                    </a:cubicBezTo>
                    <a:lnTo>
                      <a:pt x="665392" y="211170"/>
                    </a:lnTo>
                    <a:cubicBezTo>
                      <a:pt x="665392" y="229050"/>
                      <a:pt x="658289" y="246198"/>
                      <a:pt x="645646" y="258841"/>
                    </a:cubicBezTo>
                    <a:cubicBezTo>
                      <a:pt x="633003" y="271484"/>
                      <a:pt x="615855" y="278587"/>
                      <a:pt x="597975" y="278587"/>
                    </a:cubicBezTo>
                    <a:lnTo>
                      <a:pt x="67417" y="278587"/>
                    </a:lnTo>
                    <a:cubicBezTo>
                      <a:pt x="49537" y="278587"/>
                      <a:pt x="32389" y="271484"/>
                      <a:pt x="19746" y="258841"/>
                    </a:cubicBezTo>
                    <a:cubicBezTo>
                      <a:pt x="7103" y="246198"/>
                      <a:pt x="0" y="229050"/>
                      <a:pt x="0" y="211170"/>
                    </a:cubicBezTo>
                    <a:lnTo>
                      <a:pt x="0" y="67417"/>
                    </a:lnTo>
                    <a:cubicBezTo>
                      <a:pt x="0" y="49537"/>
                      <a:pt x="7103" y="32389"/>
                      <a:pt x="19746" y="19746"/>
                    </a:cubicBezTo>
                    <a:cubicBezTo>
                      <a:pt x="32389" y="7103"/>
                      <a:pt x="49537" y="0"/>
                      <a:pt x="67417" y="0"/>
                    </a:cubicBezTo>
                    <a:close/>
                  </a:path>
                </a:pathLst>
              </a:custGeom>
              <a:solidFill>
                <a:srgbClr val="6DA2E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-3336" y="-25574"/>
                <a:ext cx="665392" cy="316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dirty="0" err="1">
                    <a:solidFill>
                      <a:schemeClr val="bg1">
                        <a:lumMod val="85000"/>
                      </a:schemeClr>
                    </a:solidFill>
                    <a:latin typeface="Touvlo"/>
                    <a:ea typeface="Touvlo"/>
                    <a:cs typeface="Touvlo"/>
                    <a:sym typeface="Touvlo"/>
                  </a:rPr>
                  <a:t>Documentación</a:t>
                </a:r>
                <a:endParaRPr lang="en-US" sz="1600" dirty="0">
                  <a:solidFill>
                    <a:schemeClr val="bg1">
                      <a:lumMod val="85000"/>
                    </a:schemeClr>
                  </a:solidFill>
                  <a:latin typeface="Touvlo"/>
                  <a:ea typeface="Touvlo"/>
                  <a:cs typeface="Touvlo"/>
                  <a:sym typeface="Touvlo"/>
                </a:endParaRPr>
              </a:p>
            </p:txBody>
          </p:sp>
        </p:grpSp>
      </p:grpSp>
      <p:sp>
        <p:nvSpPr>
          <p:cNvPr id="36" name="AutoShape 36"/>
          <p:cNvSpPr/>
          <p:nvPr/>
        </p:nvSpPr>
        <p:spPr>
          <a:xfrm>
            <a:off x="3457911" y="5517460"/>
            <a:ext cx="0" cy="1243392"/>
          </a:xfrm>
          <a:prstGeom prst="line">
            <a:avLst/>
          </a:prstGeom>
          <a:ln w="38100" cap="flat">
            <a:solidFill>
              <a:srgbClr val="7958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7" name="AutoShape 37"/>
          <p:cNvSpPr/>
          <p:nvPr/>
        </p:nvSpPr>
        <p:spPr>
          <a:xfrm>
            <a:off x="5403936" y="5526985"/>
            <a:ext cx="11540" cy="2830440"/>
          </a:xfrm>
          <a:prstGeom prst="line">
            <a:avLst/>
          </a:prstGeom>
          <a:ln w="38100" cap="flat">
            <a:solidFill>
              <a:srgbClr val="3030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8" name="AutoShape 38"/>
          <p:cNvSpPr/>
          <p:nvPr/>
        </p:nvSpPr>
        <p:spPr>
          <a:xfrm flipH="1">
            <a:off x="7250451" y="5526985"/>
            <a:ext cx="0" cy="1233867"/>
          </a:xfrm>
          <a:prstGeom prst="line">
            <a:avLst/>
          </a:prstGeom>
          <a:ln w="38100" cap="flat">
            <a:solidFill>
              <a:srgbClr val="3030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9" name="AutoShape 39"/>
          <p:cNvSpPr/>
          <p:nvPr/>
        </p:nvSpPr>
        <p:spPr>
          <a:xfrm flipH="1">
            <a:off x="9124950" y="5526985"/>
            <a:ext cx="0" cy="2798992"/>
          </a:xfrm>
          <a:prstGeom prst="line">
            <a:avLst/>
          </a:prstGeom>
          <a:ln w="38100" cap="flat">
            <a:solidFill>
              <a:srgbClr val="3030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0" name="AutoShape 40"/>
          <p:cNvSpPr/>
          <p:nvPr/>
        </p:nvSpPr>
        <p:spPr>
          <a:xfrm>
            <a:off x="11001375" y="5526985"/>
            <a:ext cx="0" cy="1279883"/>
          </a:xfrm>
          <a:prstGeom prst="line">
            <a:avLst/>
          </a:prstGeom>
          <a:ln w="38100" cap="flat">
            <a:solidFill>
              <a:srgbClr val="3030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1" name="AutoShape 41"/>
          <p:cNvSpPr/>
          <p:nvPr/>
        </p:nvSpPr>
        <p:spPr>
          <a:xfrm flipH="1">
            <a:off x="12849225" y="5526985"/>
            <a:ext cx="0" cy="2798992"/>
          </a:xfrm>
          <a:prstGeom prst="line">
            <a:avLst/>
          </a:prstGeom>
          <a:ln w="38100" cap="flat">
            <a:solidFill>
              <a:srgbClr val="3030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2" name="AutoShape 42"/>
          <p:cNvSpPr/>
          <p:nvPr/>
        </p:nvSpPr>
        <p:spPr>
          <a:xfrm flipH="1">
            <a:off x="14792325" y="5526985"/>
            <a:ext cx="0" cy="1264484"/>
          </a:xfrm>
          <a:prstGeom prst="line">
            <a:avLst/>
          </a:prstGeom>
          <a:ln w="38100" cap="flat">
            <a:solidFill>
              <a:srgbClr val="3030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43" name="Group 43"/>
          <p:cNvGrpSpPr/>
          <p:nvPr/>
        </p:nvGrpSpPr>
        <p:grpSpPr>
          <a:xfrm>
            <a:off x="3871460" y="-897680"/>
            <a:ext cx="10853879" cy="3806886"/>
            <a:chOff x="0" y="0"/>
            <a:chExt cx="14471838" cy="5075848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4471838" cy="5075848"/>
              <a:chOff x="0" y="0"/>
              <a:chExt cx="2858635" cy="10026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858635" cy="1002637"/>
              </a:xfrm>
              <a:custGeom>
                <a:avLst/>
                <a:gdLst/>
                <a:ahLst/>
                <a:cxnLst/>
                <a:rect l="l" t="t" r="r" b="b"/>
                <a:pathLst>
                  <a:path w="2858635" h="1002637">
                    <a:moveTo>
                      <a:pt x="15692" y="0"/>
                    </a:moveTo>
                    <a:lnTo>
                      <a:pt x="2842942" y="0"/>
                    </a:lnTo>
                    <a:cubicBezTo>
                      <a:pt x="2847104" y="0"/>
                      <a:pt x="2851096" y="1653"/>
                      <a:pt x="2854038" y="4596"/>
                    </a:cubicBezTo>
                    <a:cubicBezTo>
                      <a:pt x="2856981" y="7539"/>
                      <a:pt x="2858635" y="11530"/>
                      <a:pt x="2858635" y="15692"/>
                    </a:cubicBezTo>
                    <a:lnTo>
                      <a:pt x="2858635" y="986944"/>
                    </a:lnTo>
                    <a:cubicBezTo>
                      <a:pt x="2858635" y="991106"/>
                      <a:pt x="2856981" y="995098"/>
                      <a:pt x="2854038" y="998041"/>
                    </a:cubicBezTo>
                    <a:cubicBezTo>
                      <a:pt x="2851096" y="1000983"/>
                      <a:pt x="2847104" y="1002637"/>
                      <a:pt x="2842942" y="1002637"/>
                    </a:cubicBezTo>
                    <a:lnTo>
                      <a:pt x="15692" y="1002637"/>
                    </a:lnTo>
                    <a:cubicBezTo>
                      <a:pt x="11530" y="1002637"/>
                      <a:pt x="7539" y="1000983"/>
                      <a:pt x="4596" y="998041"/>
                    </a:cubicBezTo>
                    <a:cubicBezTo>
                      <a:pt x="1653" y="995098"/>
                      <a:pt x="0" y="991106"/>
                      <a:pt x="0" y="986944"/>
                    </a:cubicBezTo>
                    <a:lnTo>
                      <a:pt x="0" y="15692"/>
                    </a:lnTo>
                    <a:cubicBezTo>
                      <a:pt x="0" y="11530"/>
                      <a:pt x="1653" y="7539"/>
                      <a:pt x="4596" y="4596"/>
                    </a:cubicBezTo>
                    <a:cubicBezTo>
                      <a:pt x="7539" y="1653"/>
                      <a:pt x="11530" y="0"/>
                      <a:pt x="15692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2858635" cy="104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0" y="2801467"/>
              <a:ext cx="14437658" cy="1472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CRONOGRAMA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742531" y="798200"/>
            <a:ext cx="1870705" cy="1649174"/>
          </a:xfrm>
          <a:custGeom>
            <a:avLst/>
            <a:gdLst/>
            <a:ahLst/>
            <a:cxnLst/>
            <a:rect l="l" t="t" r="r" b="b"/>
            <a:pathLst>
              <a:path w="1870705" h="1649174">
                <a:moveTo>
                  <a:pt x="0" y="0"/>
                </a:moveTo>
                <a:lnTo>
                  <a:pt x="1870705" y="0"/>
                </a:lnTo>
                <a:lnTo>
                  <a:pt x="1870705" y="1649174"/>
                </a:lnTo>
                <a:lnTo>
                  <a:pt x="0" y="16491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9" name="TextBox 49"/>
          <p:cNvSpPr txBox="1"/>
          <p:nvPr/>
        </p:nvSpPr>
        <p:spPr>
          <a:xfrm>
            <a:off x="3956733" y="4293023"/>
            <a:ext cx="1838601" cy="55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FASE I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FUNDACIÓN (S1 - S4)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54604" y="4293023"/>
            <a:ext cx="2707461" cy="55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FASE II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DESARROLLO ÁGIL (S5 - S15)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292429" y="4293023"/>
            <a:ext cx="3001396" cy="55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FASE III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VALIDACIÓN Y CIERRE (S16 - S18)</a:t>
            </a:r>
          </a:p>
        </p:txBody>
      </p:sp>
      <p:sp>
        <p:nvSpPr>
          <p:cNvPr id="52" name="Freeform 52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AB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0153" y="2470159"/>
            <a:ext cx="13307693" cy="6941191"/>
            <a:chOff x="0" y="0"/>
            <a:chExt cx="3504907" cy="1828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04907" cy="1828133"/>
            </a:xfrm>
            <a:custGeom>
              <a:avLst/>
              <a:gdLst/>
              <a:ahLst/>
              <a:cxnLst/>
              <a:rect l="l" t="t" r="r" b="b"/>
              <a:pathLst>
                <a:path w="3504907" h="1828133">
                  <a:moveTo>
                    <a:pt x="0" y="0"/>
                  </a:moveTo>
                  <a:lnTo>
                    <a:pt x="3504907" y="0"/>
                  </a:lnTo>
                  <a:lnTo>
                    <a:pt x="3504907" y="1828133"/>
                  </a:lnTo>
                  <a:lnTo>
                    <a:pt x="0" y="1828133"/>
                  </a:lnTo>
                  <a:close/>
                </a:path>
              </a:pathLst>
            </a:custGeom>
            <a:solidFill>
              <a:srgbClr val="EECACA"/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04907" cy="1866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17061" y="-874743"/>
            <a:ext cx="10853879" cy="3806886"/>
            <a:chOff x="0" y="0"/>
            <a:chExt cx="14471838" cy="507584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4471838" cy="5075848"/>
              <a:chOff x="0" y="0"/>
              <a:chExt cx="2858635" cy="100263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58635" cy="1002637"/>
              </a:xfrm>
              <a:custGeom>
                <a:avLst/>
                <a:gdLst/>
                <a:ahLst/>
                <a:cxnLst/>
                <a:rect l="l" t="t" r="r" b="b"/>
                <a:pathLst>
                  <a:path w="2858635" h="1002637">
                    <a:moveTo>
                      <a:pt x="15692" y="0"/>
                    </a:moveTo>
                    <a:lnTo>
                      <a:pt x="2842942" y="0"/>
                    </a:lnTo>
                    <a:cubicBezTo>
                      <a:pt x="2847104" y="0"/>
                      <a:pt x="2851096" y="1653"/>
                      <a:pt x="2854038" y="4596"/>
                    </a:cubicBezTo>
                    <a:cubicBezTo>
                      <a:pt x="2856981" y="7539"/>
                      <a:pt x="2858635" y="11530"/>
                      <a:pt x="2858635" y="15692"/>
                    </a:cubicBezTo>
                    <a:lnTo>
                      <a:pt x="2858635" y="986944"/>
                    </a:lnTo>
                    <a:cubicBezTo>
                      <a:pt x="2858635" y="991106"/>
                      <a:pt x="2856981" y="995098"/>
                      <a:pt x="2854038" y="998041"/>
                    </a:cubicBezTo>
                    <a:cubicBezTo>
                      <a:pt x="2851096" y="1000983"/>
                      <a:pt x="2847104" y="1002637"/>
                      <a:pt x="2842942" y="1002637"/>
                    </a:cubicBezTo>
                    <a:lnTo>
                      <a:pt x="15692" y="1002637"/>
                    </a:lnTo>
                    <a:cubicBezTo>
                      <a:pt x="11530" y="1002637"/>
                      <a:pt x="7539" y="1000983"/>
                      <a:pt x="4596" y="998041"/>
                    </a:cubicBezTo>
                    <a:cubicBezTo>
                      <a:pt x="1653" y="995098"/>
                      <a:pt x="0" y="991106"/>
                      <a:pt x="0" y="986944"/>
                    </a:cubicBezTo>
                    <a:lnTo>
                      <a:pt x="0" y="15692"/>
                    </a:lnTo>
                    <a:cubicBezTo>
                      <a:pt x="0" y="11530"/>
                      <a:pt x="1653" y="7539"/>
                      <a:pt x="4596" y="4596"/>
                    </a:cubicBezTo>
                    <a:cubicBezTo>
                      <a:pt x="7539" y="1653"/>
                      <a:pt x="11530" y="0"/>
                      <a:pt x="15692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58635" cy="104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2801467"/>
              <a:ext cx="14437658" cy="1472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ARQUITECTURA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64962" y="3339793"/>
            <a:ext cx="8917036" cy="5825662"/>
            <a:chOff x="0" y="-28575"/>
            <a:chExt cx="11889381" cy="7767549"/>
          </a:xfrm>
        </p:grpSpPr>
        <p:sp>
          <p:nvSpPr>
            <p:cNvPr id="11" name="Freeform 11"/>
            <p:cNvSpPr/>
            <p:nvPr/>
          </p:nvSpPr>
          <p:spPr>
            <a:xfrm>
              <a:off x="4769948" y="4620555"/>
              <a:ext cx="1888635" cy="1893685"/>
            </a:xfrm>
            <a:custGeom>
              <a:avLst/>
              <a:gdLst/>
              <a:ahLst/>
              <a:cxnLst/>
              <a:rect l="l" t="t" r="r" b="b"/>
              <a:pathLst>
                <a:path w="1888635" h="1893685">
                  <a:moveTo>
                    <a:pt x="0" y="0"/>
                  </a:moveTo>
                  <a:lnTo>
                    <a:pt x="1888635" y="0"/>
                  </a:lnTo>
                  <a:lnTo>
                    <a:pt x="1888635" y="1893685"/>
                  </a:lnTo>
                  <a:lnTo>
                    <a:pt x="0" y="1893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473054" y="1047298"/>
              <a:ext cx="1687128" cy="2017492"/>
            </a:xfrm>
            <a:custGeom>
              <a:avLst/>
              <a:gdLst/>
              <a:ahLst/>
              <a:cxnLst/>
              <a:rect l="l" t="t" r="r" b="b"/>
              <a:pathLst>
                <a:path w="1687128" h="2017492">
                  <a:moveTo>
                    <a:pt x="0" y="0"/>
                  </a:moveTo>
                  <a:lnTo>
                    <a:pt x="1687128" y="0"/>
                  </a:lnTo>
                  <a:lnTo>
                    <a:pt x="1687128" y="2017492"/>
                  </a:lnTo>
                  <a:lnTo>
                    <a:pt x="0" y="2017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705520" y="1047298"/>
              <a:ext cx="2017492" cy="2017492"/>
            </a:xfrm>
            <a:custGeom>
              <a:avLst/>
              <a:gdLst/>
              <a:ahLst/>
              <a:cxnLst/>
              <a:rect l="l" t="t" r="r" b="b"/>
              <a:pathLst>
                <a:path w="2017492" h="2017492">
                  <a:moveTo>
                    <a:pt x="0" y="0"/>
                  </a:moveTo>
                  <a:lnTo>
                    <a:pt x="2017492" y="0"/>
                  </a:lnTo>
                  <a:lnTo>
                    <a:pt x="2017492" y="2017492"/>
                  </a:lnTo>
                  <a:lnTo>
                    <a:pt x="0" y="2017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1953245" y="2056044"/>
              <a:ext cx="2752275" cy="0"/>
            </a:xfrm>
            <a:prstGeom prst="line">
              <a:avLst/>
            </a:prstGeom>
            <a:ln w="47211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723012" y="2056044"/>
              <a:ext cx="2750042" cy="0"/>
            </a:xfrm>
            <a:prstGeom prst="line">
              <a:avLst/>
            </a:prstGeom>
            <a:ln w="47211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AutoShape 16"/>
            <p:cNvSpPr/>
            <p:nvPr/>
          </p:nvSpPr>
          <p:spPr>
            <a:xfrm flipH="1">
              <a:off x="5714266" y="2822085"/>
              <a:ext cx="0" cy="1798470"/>
            </a:xfrm>
            <a:prstGeom prst="line">
              <a:avLst/>
            </a:prstGeom>
            <a:ln w="47211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08097" y="6676974"/>
              <a:ext cx="3012339" cy="10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1"/>
                </a:lnSpc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BASE DE DATOS</a:t>
              </a:r>
            </a:p>
            <a:p>
              <a:pPr algn="ctr">
                <a:lnSpc>
                  <a:spcPts val="2081"/>
                </a:lnSpc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DB (SQLite) - </a:t>
              </a:r>
            </a:p>
            <a:p>
              <a:pPr algn="ctr">
                <a:lnSpc>
                  <a:spcPts val="2081"/>
                </a:lnSpc>
                <a:spcBef>
                  <a:spcPct val="0"/>
                </a:spcBef>
              </a:pPr>
              <a:r>
                <a:rPr lang="en-US" sz="1486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Catálogo</a:t>
              </a: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 y </a:t>
              </a:r>
              <a:r>
                <a:rPr lang="en-US" sz="1486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Compatibilidad</a:t>
              </a:r>
              <a:endParaRPr lang="en-US" sz="1486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43854" y="3251164"/>
              <a:ext cx="3145527" cy="10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1"/>
                </a:lnSpc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FUNCIONALIDADES</a:t>
              </a:r>
            </a:p>
            <a:p>
              <a:pPr algn="ctr">
                <a:lnSpc>
                  <a:spcPts val="2081"/>
                </a:lnSpc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BACKEND (Django) -</a:t>
              </a:r>
            </a:p>
            <a:p>
              <a:pPr algn="ctr">
                <a:lnSpc>
                  <a:spcPts val="2081"/>
                </a:lnSpc>
                <a:spcBef>
                  <a:spcPct val="0"/>
                </a:spcBef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Motor de </a:t>
              </a:r>
              <a:r>
                <a:rPr lang="en-US" sz="1486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Recomendación</a:t>
              </a:r>
              <a:endParaRPr lang="en-US" sz="1486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2535" y="-28575"/>
              <a:ext cx="3443463" cy="10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1"/>
                </a:lnSpc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SITIO WEB</a:t>
              </a:r>
            </a:p>
            <a:p>
              <a:pPr algn="ctr">
                <a:lnSpc>
                  <a:spcPts val="2081"/>
                </a:lnSpc>
                <a:spcBef>
                  <a:spcPct val="0"/>
                </a:spcBef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FRONTEND (Django Templates / Bootstrap)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105204"/>
              <a:ext cx="2068739" cy="702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1"/>
                </a:lnSpc>
              </a:pPr>
              <a:r>
                <a:rPr lang="en-US" sz="148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USUARIO</a:t>
              </a:r>
            </a:p>
            <a:p>
              <a:pPr algn="ctr">
                <a:lnSpc>
                  <a:spcPts val="2081"/>
                </a:lnSpc>
                <a:spcBef>
                  <a:spcPct val="0"/>
                </a:spcBef>
              </a:pPr>
              <a:endParaRPr lang="en-US" sz="1486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4811362" y="4141861"/>
            <a:ext cx="1654259" cy="1458360"/>
          </a:xfrm>
          <a:custGeom>
            <a:avLst/>
            <a:gdLst/>
            <a:ahLst/>
            <a:cxnLst/>
            <a:rect l="l" t="t" r="r" b="b"/>
            <a:pathLst>
              <a:path w="1654259" h="1458360">
                <a:moveTo>
                  <a:pt x="0" y="0"/>
                </a:moveTo>
                <a:lnTo>
                  <a:pt x="1654259" y="0"/>
                </a:lnTo>
                <a:lnTo>
                  <a:pt x="1654259" y="1458360"/>
                </a:lnTo>
                <a:lnTo>
                  <a:pt x="0" y="14583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601053" y="6509593"/>
            <a:ext cx="1056763" cy="4036247"/>
          </a:xfrm>
          <a:custGeom>
            <a:avLst/>
            <a:gdLst/>
            <a:ahLst/>
            <a:cxnLst/>
            <a:rect l="l" t="t" r="r" b="b"/>
            <a:pathLst>
              <a:path w="1056763" h="4036247">
                <a:moveTo>
                  <a:pt x="0" y="0"/>
                </a:moveTo>
                <a:lnTo>
                  <a:pt x="1056763" y="0"/>
                </a:lnTo>
                <a:lnTo>
                  <a:pt x="1056763" y="4036248"/>
                </a:lnTo>
                <a:lnTo>
                  <a:pt x="0" y="4036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 rot="-10800000">
            <a:off x="16535862" y="-245719"/>
            <a:ext cx="1056763" cy="4036247"/>
          </a:xfrm>
          <a:custGeom>
            <a:avLst/>
            <a:gdLst/>
            <a:ahLst/>
            <a:cxnLst/>
            <a:rect l="l" t="t" r="r" b="b"/>
            <a:pathLst>
              <a:path w="1056763" h="4036247">
                <a:moveTo>
                  <a:pt x="0" y="0"/>
                </a:moveTo>
                <a:lnTo>
                  <a:pt x="1056763" y="0"/>
                </a:lnTo>
                <a:lnTo>
                  <a:pt x="1056763" y="4036247"/>
                </a:lnTo>
                <a:lnTo>
                  <a:pt x="0" y="4036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AB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30303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30303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358239" y="-874743"/>
            <a:ext cx="11665983" cy="3806886"/>
            <a:chOff x="0" y="0"/>
            <a:chExt cx="15554644" cy="507584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5554644" cy="5075848"/>
              <a:chOff x="0" y="0"/>
              <a:chExt cx="3072522" cy="100263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072522" cy="1002637"/>
              </a:xfrm>
              <a:custGeom>
                <a:avLst/>
                <a:gdLst/>
                <a:ahLst/>
                <a:cxnLst/>
                <a:rect l="l" t="t" r="r" b="b"/>
                <a:pathLst>
                  <a:path w="3072522" h="1002637">
                    <a:moveTo>
                      <a:pt x="14600" y="0"/>
                    </a:moveTo>
                    <a:lnTo>
                      <a:pt x="3057922" y="0"/>
                    </a:lnTo>
                    <a:cubicBezTo>
                      <a:pt x="3065986" y="0"/>
                      <a:pt x="3072522" y="6537"/>
                      <a:pt x="3072522" y="14600"/>
                    </a:cubicBezTo>
                    <a:lnTo>
                      <a:pt x="3072522" y="988037"/>
                    </a:lnTo>
                    <a:cubicBezTo>
                      <a:pt x="3072522" y="996100"/>
                      <a:pt x="3065986" y="1002637"/>
                      <a:pt x="3057922" y="1002637"/>
                    </a:cubicBezTo>
                    <a:lnTo>
                      <a:pt x="14600" y="1002637"/>
                    </a:lnTo>
                    <a:cubicBezTo>
                      <a:pt x="6537" y="1002637"/>
                      <a:pt x="0" y="996100"/>
                      <a:pt x="0" y="988037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072522" cy="104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2801467"/>
              <a:ext cx="15517907" cy="1472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 dirty="0">
                  <a:solidFill>
                    <a:srgbClr val="30303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STACK TECNOLÓGICO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58239" y="4113570"/>
            <a:ext cx="11665983" cy="5144730"/>
            <a:chOff x="0" y="0"/>
            <a:chExt cx="15554644" cy="685964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7140099" cy="3185257"/>
              <a:chOff x="0" y="0"/>
              <a:chExt cx="1248964" cy="55717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415190" y="733821"/>
              <a:ext cx="1717616" cy="1717616"/>
            </a:xfrm>
            <a:custGeom>
              <a:avLst/>
              <a:gdLst/>
              <a:ahLst/>
              <a:cxnLst/>
              <a:rect l="l" t="t" r="r" b="b"/>
              <a:pathLst>
                <a:path w="1717616" h="1717616">
                  <a:moveTo>
                    <a:pt x="0" y="0"/>
                  </a:moveTo>
                  <a:lnTo>
                    <a:pt x="1717615" y="0"/>
                  </a:lnTo>
                  <a:lnTo>
                    <a:pt x="1717615" y="1717616"/>
                  </a:lnTo>
                  <a:lnTo>
                    <a:pt x="0" y="1717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130814" y="121100"/>
              <a:ext cx="885991" cy="885991"/>
            </a:xfrm>
            <a:custGeom>
              <a:avLst/>
              <a:gdLst/>
              <a:ahLst/>
              <a:cxnLst/>
              <a:rect l="l" t="t" r="r" b="b"/>
              <a:pathLst>
                <a:path w="885991" h="885991">
                  <a:moveTo>
                    <a:pt x="0" y="0"/>
                  </a:moveTo>
                  <a:lnTo>
                    <a:pt x="885991" y="0"/>
                  </a:lnTo>
                  <a:lnTo>
                    <a:pt x="885991" y="885991"/>
                  </a:lnTo>
                  <a:lnTo>
                    <a:pt x="0" y="885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08295" y="1169223"/>
              <a:ext cx="4321032" cy="1253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9"/>
                </a:lnSpc>
              </a:pPr>
              <a:r>
                <a:rPr lang="en-US" sz="180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MOTOR / BACKEND</a:t>
              </a:r>
            </a:p>
            <a:p>
              <a:pPr algn="ctr">
                <a:lnSpc>
                  <a:spcPts val="2529"/>
                </a:lnSpc>
                <a:spcBef>
                  <a:spcPct val="0"/>
                </a:spcBef>
              </a:pPr>
              <a:r>
                <a:rPr lang="en-US" sz="180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Python / Django: MVT y ORM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3674383"/>
              <a:ext cx="7140099" cy="3185257"/>
              <a:chOff x="0" y="0"/>
              <a:chExt cx="1248964" cy="55717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602509" y="4221114"/>
              <a:ext cx="1566946" cy="2091796"/>
            </a:xfrm>
            <a:custGeom>
              <a:avLst/>
              <a:gdLst/>
              <a:ahLst/>
              <a:cxnLst/>
              <a:rect l="l" t="t" r="r" b="b"/>
              <a:pathLst>
                <a:path w="1566946" h="2091796">
                  <a:moveTo>
                    <a:pt x="0" y="0"/>
                  </a:moveTo>
                  <a:lnTo>
                    <a:pt x="1566945" y="0"/>
                  </a:lnTo>
                  <a:lnTo>
                    <a:pt x="1566945" y="2091796"/>
                  </a:lnTo>
                  <a:lnTo>
                    <a:pt x="0" y="209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5170101" y="3799328"/>
              <a:ext cx="1840241" cy="869514"/>
            </a:xfrm>
            <a:custGeom>
              <a:avLst/>
              <a:gdLst/>
              <a:ahLst/>
              <a:cxnLst/>
              <a:rect l="l" t="t" r="r" b="b"/>
              <a:pathLst>
                <a:path w="1840241" h="869514">
                  <a:moveTo>
                    <a:pt x="0" y="0"/>
                  </a:moveTo>
                  <a:lnTo>
                    <a:pt x="1840240" y="0"/>
                  </a:lnTo>
                  <a:lnTo>
                    <a:pt x="1840240" y="869514"/>
                  </a:lnTo>
                  <a:lnTo>
                    <a:pt x="0" y="869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0675" y="4894405"/>
              <a:ext cx="4321032" cy="826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9"/>
                </a:lnSpc>
              </a:pPr>
              <a:r>
                <a:rPr lang="en-US" sz="180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ALMACENAMIENTO</a:t>
              </a:r>
            </a:p>
            <a:p>
              <a:pPr algn="ctr">
                <a:lnSpc>
                  <a:spcPts val="2529"/>
                </a:lnSpc>
                <a:spcBef>
                  <a:spcPct val="0"/>
                </a:spcBef>
              </a:pPr>
              <a:r>
                <a:rPr lang="en-US" sz="180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SQLITE: </a:t>
              </a:r>
              <a:r>
                <a:rPr lang="en-US" sz="1806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Catálogo</a:t>
              </a:r>
              <a:r>
                <a:rPr lang="en-US" sz="1806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 y Reglas.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414545" y="0"/>
              <a:ext cx="7140099" cy="3185257"/>
              <a:chOff x="0" y="0"/>
              <a:chExt cx="1248964" cy="55717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2753474" y="790842"/>
              <a:ext cx="2523020" cy="1696731"/>
            </a:xfrm>
            <a:custGeom>
              <a:avLst/>
              <a:gdLst/>
              <a:ahLst/>
              <a:cxnLst/>
              <a:rect l="l" t="t" r="r" b="b"/>
              <a:pathLst>
                <a:path w="2523020" h="1696731">
                  <a:moveTo>
                    <a:pt x="0" y="0"/>
                  </a:moveTo>
                  <a:lnTo>
                    <a:pt x="2523020" y="0"/>
                  </a:lnTo>
                  <a:lnTo>
                    <a:pt x="2523020" y="1696731"/>
                  </a:lnTo>
                  <a:lnTo>
                    <a:pt x="0" y="1696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0320" y="1188095"/>
              <a:ext cx="3925485" cy="1253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en-US" sz="1799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INTERFAZ / FRONTEND</a:t>
              </a:r>
            </a:p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DJANGO TEMPLATES, CSS, BOOTSTRAP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698946" y="205033"/>
              <a:ext cx="1658646" cy="588066"/>
            </a:xfrm>
            <a:custGeom>
              <a:avLst/>
              <a:gdLst/>
              <a:ahLst/>
              <a:cxnLst/>
              <a:rect l="l" t="t" r="r" b="b"/>
              <a:pathLst>
                <a:path w="1658646" h="588066">
                  <a:moveTo>
                    <a:pt x="0" y="0"/>
                  </a:moveTo>
                  <a:lnTo>
                    <a:pt x="1658647" y="0"/>
                  </a:lnTo>
                  <a:lnTo>
                    <a:pt x="1658647" y="588066"/>
                  </a:lnTo>
                  <a:lnTo>
                    <a:pt x="0" y="588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414545" y="3674383"/>
              <a:ext cx="7140099" cy="3185257"/>
              <a:chOff x="0" y="0"/>
              <a:chExt cx="1248964" cy="55717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48964" cy="557173"/>
              </a:xfrm>
              <a:custGeom>
                <a:avLst/>
                <a:gdLst/>
                <a:ahLst/>
                <a:cxnLst/>
                <a:rect l="l" t="t" r="r" b="b"/>
                <a:pathLst>
                  <a:path w="1248964" h="557173">
                    <a:moveTo>
                      <a:pt x="35917" y="0"/>
                    </a:moveTo>
                    <a:lnTo>
                      <a:pt x="1213048" y="0"/>
                    </a:lnTo>
                    <a:cubicBezTo>
                      <a:pt x="1232884" y="0"/>
                      <a:pt x="1248964" y="16080"/>
                      <a:pt x="1248964" y="35917"/>
                    </a:cubicBezTo>
                    <a:lnTo>
                      <a:pt x="1248964" y="521257"/>
                    </a:lnTo>
                    <a:cubicBezTo>
                      <a:pt x="1248964" y="541093"/>
                      <a:pt x="1232884" y="557173"/>
                      <a:pt x="1213048" y="557173"/>
                    </a:cubicBezTo>
                    <a:lnTo>
                      <a:pt x="35917" y="557173"/>
                    </a:lnTo>
                    <a:cubicBezTo>
                      <a:pt x="16080" y="557173"/>
                      <a:pt x="0" y="541093"/>
                      <a:pt x="0" y="521257"/>
                    </a:cubicBezTo>
                    <a:lnTo>
                      <a:pt x="0" y="35917"/>
                    </a:lnTo>
                    <a:cubicBezTo>
                      <a:pt x="0" y="16080"/>
                      <a:pt x="16080" y="0"/>
                      <a:pt x="359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48964" cy="59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2795022" y="4492052"/>
              <a:ext cx="2381160" cy="1549919"/>
            </a:xfrm>
            <a:custGeom>
              <a:avLst/>
              <a:gdLst/>
              <a:ahLst/>
              <a:cxnLst/>
              <a:rect l="l" t="t" r="r" b="b"/>
              <a:pathLst>
                <a:path w="2381160" h="1549919">
                  <a:moveTo>
                    <a:pt x="0" y="0"/>
                  </a:moveTo>
                  <a:lnTo>
                    <a:pt x="2381161" y="0"/>
                  </a:lnTo>
                  <a:lnTo>
                    <a:pt x="2381161" y="1549919"/>
                  </a:lnTo>
                  <a:lnTo>
                    <a:pt x="0" y="1549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8606407" y="3847532"/>
              <a:ext cx="872110" cy="872110"/>
            </a:xfrm>
            <a:custGeom>
              <a:avLst/>
              <a:gdLst/>
              <a:ahLst/>
              <a:cxnLst/>
              <a:rect l="l" t="t" r="r" b="b"/>
              <a:pathLst>
                <a:path w="872110" h="872110">
                  <a:moveTo>
                    <a:pt x="0" y="0"/>
                  </a:moveTo>
                  <a:lnTo>
                    <a:pt x="872110" y="0"/>
                  </a:lnTo>
                  <a:lnTo>
                    <a:pt x="872110" y="872110"/>
                  </a:lnTo>
                  <a:lnTo>
                    <a:pt x="0" y="8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68895" y="4840292"/>
              <a:ext cx="3925485" cy="826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en-US" sz="1799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GESTIÓN / CONTROL</a:t>
              </a:r>
            </a:p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Touvlo"/>
                  <a:ea typeface="Touvlo"/>
                  <a:cs typeface="Touvlo"/>
                  <a:sym typeface="Touvlo"/>
                </a:rPr>
                <a:t>TRELLO, GIT / GITHUB.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5" name="Freeform 35"/>
          <p:cNvSpPr/>
          <p:nvPr/>
        </p:nvSpPr>
        <p:spPr>
          <a:xfrm rot="-5400000">
            <a:off x="16385815" y="5101409"/>
            <a:ext cx="829715" cy="3169052"/>
          </a:xfrm>
          <a:custGeom>
            <a:avLst/>
            <a:gdLst/>
            <a:ahLst/>
            <a:cxnLst/>
            <a:rect l="l" t="t" r="r" b="b"/>
            <a:pathLst>
              <a:path w="829715" h="3169052">
                <a:moveTo>
                  <a:pt x="0" y="0"/>
                </a:moveTo>
                <a:lnTo>
                  <a:pt x="829715" y="0"/>
                </a:lnTo>
                <a:lnTo>
                  <a:pt x="829715" y="3169052"/>
                </a:lnTo>
                <a:lnTo>
                  <a:pt x="0" y="31690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6" name="Freeform 36"/>
          <p:cNvSpPr/>
          <p:nvPr/>
        </p:nvSpPr>
        <p:spPr>
          <a:xfrm rot="5400000">
            <a:off x="1168356" y="5101409"/>
            <a:ext cx="829715" cy="3169052"/>
          </a:xfrm>
          <a:custGeom>
            <a:avLst/>
            <a:gdLst/>
            <a:ahLst/>
            <a:cxnLst/>
            <a:rect l="l" t="t" r="r" b="b"/>
            <a:pathLst>
              <a:path w="829715" h="3169052">
                <a:moveTo>
                  <a:pt x="0" y="0"/>
                </a:moveTo>
                <a:lnTo>
                  <a:pt x="829715" y="0"/>
                </a:lnTo>
                <a:lnTo>
                  <a:pt x="829715" y="3169052"/>
                </a:lnTo>
                <a:lnTo>
                  <a:pt x="0" y="31690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7" name="Group 37"/>
          <p:cNvGrpSpPr/>
          <p:nvPr/>
        </p:nvGrpSpPr>
        <p:grpSpPr>
          <a:xfrm>
            <a:off x="-22257356" y="452910"/>
            <a:ext cx="25240844" cy="8008366"/>
            <a:chOff x="0" y="0"/>
            <a:chExt cx="33654459" cy="10677822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33654459" cy="3188485"/>
              <a:chOff x="0" y="0"/>
              <a:chExt cx="3434351" cy="32537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434351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34351" h="325377">
                    <a:moveTo>
                      <a:pt x="13062" y="0"/>
                    </a:moveTo>
                    <a:lnTo>
                      <a:pt x="3421289" y="0"/>
                    </a:lnTo>
                    <a:cubicBezTo>
                      <a:pt x="3428503" y="0"/>
                      <a:pt x="3434351" y="5848"/>
                      <a:pt x="3434351" y="13062"/>
                    </a:cubicBezTo>
                    <a:lnTo>
                      <a:pt x="3434351" y="312315"/>
                    </a:lnTo>
                    <a:cubicBezTo>
                      <a:pt x="3434351" y="319529"/>
                      <a:pt x="3428503" y="325377"/>
                      <a:pt x="3421289" y="325377"/>
                    </a:cubicBezTo>
                    <a:lnTo>
                      <a:pt x="13062" y="325377"/>
                    </a:lnTo>
                    <a:cubicBezTo>
                      <a:pt x="5848" y="325377"/>
                      <a:pt x="0" y="319529"/>
                      <a:pt x="0" y="312315"/>
                    </a:cubicBezTo>
                    <a:lnTo>
                      <a:pt x="0" y="13062"/>
                    </a:lnTo>
                    <a:cubicBezTo>
                      <a:pt x="0" y="5848"/>
                      <a:pt x="5848" y="0"/>
                      <a:pt x="13062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3434351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3900292" y="7317311"/>
              <a:ext cx="21609492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480871" y="602400"/>
            <a:ext cx="2204685" cy="1943604"/>
          </a:xfrm>
          <a:custGeom>
            <a:avLst/>
            <a:gdLst/>
            <a:ahLst/>
            <a:cxnLst/>
            <a:rect l="l" t="t" r="r" b="b"/>
            <a:pathLst>
              <a:path w="2204685" h="1943604">
                <a:moveTo>
                  <a:pt x="0" y="0"/>
                </a:moveTo>
                <a:lnTo>
                  <a:pt x="2204685" y="0"/>
                </a:lnTo>
                <a:lnTo>
                  <a:pt x="2204685" y="1943604"/>
                </a:lnTo>
                <a:lnTo>
                  <a:pt x="0" y="194360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71460" y="-1455574"/>
            <a:ext cx="10853879" cy="3806886"/>
            <a:chOff x="0" y="0"/>
            <a:chExt cx="14471838" cy="50758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471838" cy="5075848"/>
              <a:chOff x="0" y="0"/>
              <a:chExt cx="2858635" cy="100263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858635" cy="1002637"/>
              </a:xfrm>
              <a:custGeom>
                <a:avLst/>
                <a:gdLst/>
                <a:ahLst/>
                <a:cxnLst/>
                <a:rect l="l" t="t" r="r" b="b"/>
                <a:pathLst>
                  <a:path w="2858635" h="1002637">
                    <a:moveTo>
                      <a:pt x="15692" y="0"/>
                    </a:moveTo>
                    <a:lnTo>
                      <a:pt x="2842942" y="0"/>
                    </a:lnTo>
                    <a:cubicBezTo>
                      <a:pt x="2847104" y="0"/>
                      <a:pt x="2851096" y="1653"/>
                      <a:pt x="2854038" y="4596"/>
                    </a:cubicBezTo>
                    <a:cubicBezTo>
                      <a:pt x="2856981" y="7539"/>
                      <a:pt x="2858635" y="11530"/>
                      <a:pt x="2858635" y="15692"/>
                    </a:cubicBezTo>
                    <a:lnTo>
                      <a:pt x="2858635" y="986944"/>
                    </a:lnTo>
                    <a:cubicBezTo>
                      <a:pt x="2858635" y="991106"/>
                      <a:pt x="2856981" y="995098"/>
                      <a:pt x="2854038" y="998041"/>
                    </a:cubicBezTo>
                    <a:cubicBezTo>
                      <a:pt x="2851096" y="1000983"/>
                      <a:pt x="2847104" y="1002637"/>
                      <a:pt x="2842942" y="1002637"/>
                    </a:cubicBezTo>
                    <a:lnTo>
                      <a:pt x="15692" y="1002637"/>
                    </a:lnTo>
                    <a:cubicBezTo>
                      <a:pt x="11530" y="1002637"/>
                      <a:pt x="7539" y="1000983"/>
                      <a:pt x="4596" y="998041"/>
                    </a:cubicBezTo>
                    <a:cubicBezTo>
                      <a:pt x="1653" y="995098"/>
                      <a:pt x="0" y="991106"/>
                      <a:pt x="0" y="986944"/>
                    </a:cubicBezTo>
                    <a:lnTo>
                      <a:pt x="0" y="15692"/>
                    </a:lnTo>
                    <a:cubicBezTo>
                      <a:pt x="0" y="11530"/>
                      <a:pt x="1653" y="7539"/>
                      <a:pt x="4596" y="4596"/>
                    </a:cubicBezTo>
                    <a:cubicBezTo>
                      <a:pt x="7539" y="1653"/>
                      <a:pt x="11530" y="0"/>
                      <a:pt x="15692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858635" cy="104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3204415"/>
              <a:ext cx="14437658" cy="1472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 dirty="0">
                  <a:solidFill>
                    <a:srgbClr val="292929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DEMOSTRACIÓN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269495" y="7938690"/>
            <a:ext cx="11757074" cy="3664363"/>
            <a:chOff x="0" y="0"/>
            <a:chExt cx="3096514" cy="965200"/>
          </a:xfrm>
        </p:grpSpPr>
        <p:sp>
          <p:nvSpPr>
            <p:cNvPr id="8" name="Freeform 8"/>
            <p:cNvSpPr/>
            <p:nvPr/>
          </p:nvSpPr>
          <p:spPr>
            <a:xfrm>
              <a:off x="19388" y="0"/>
              <a:ext cx="3057739" cy="963461"/>
            </a:xfrm>
            <a:custGeom>
              <a:avLst/>
              <a:gdLst/>
              <a:ahLst/>
              <a:cxnLst/>
              <a:rect l="l" t="t" r="r" b="b"/>
              <a:pathLst>
                <a:path w="3057739" h="963461">
                  <a:moveTo>
                    <a:pt x="2332629" y="18439"/>
                  </a:moveTo>
                  <a:lnTo>
                    <a:pt x="3047495" y="463291"/>
                  </a:lnTo>
                  <a:cubicBezTo>
                    <a:pt x="3053865" y="467256"/>
                    <a:pt x="3057738" y="474227"/>
                    <a:pt x="3057738" y="481730"/>
                  </a:cubicBezTo>
                  <a:cubicBezTo>
                    <a:pt x="3057738" y="489234"/>
                    <a:pt x="3053865" y="496205"/>
                    <a:pt x="3047495" y="500170"/>
                  </a:cubicBezTo>
                  <a:lnTo>
                    <a:pt x="2332629" y="945022"/>
                  </a:lnTo>
                  <a:cubicBezTo>
                    <a:pt x="2313262" y="957073"/>
                    <a:pt x="2290908" y="963461"/>
                    <a:pt x="2268098" y="963461"/>
                  </a:cubicBezTo>
                  <a:lnTo>
                    <a:pt x="789641" y="963461"/>
                  </a:lnTo>
                  <a:cubicBezTo>
                    <a:pt x="766830" y="963461"/>
                    <a:pt x="744476" y="957073"/>
                    <a:pt x="725109" y="945022"/>
                  </a:cubicBezTo>
                  <a:lnTo>
                    <a:pt x="10243" y="500170"/>
                  </a:lnTo>
                  <a:cubicBezTo>
                    <a:pt x="3873" y="496205"/>
                    <a:pt x="0" y="489234"/>
                    <a:pt x="0" y="481730"/>
                  </a:cubicBezTo>
                  <a:cubicBezTo>
                    <a:pt x="0" y="474227"/>
                    <a:pt x="3873" y="467256"/>
                    <a:pt x="10243" y="463291"/>
                  </a:cubicBezTo>
                  <a:lnTo>
                    <a:pt x="725109" y="18439"/>
                  </a:lnTo>
                  <a:cubicBezTo>
                    <a:pt x="744476" y="6388"/>
                    <a:pt x="766830" y="0"/>
                    <a:pt x="789641" y="0"/>
                  </a:cubicBezTo>
                  <a:lnTo>
                    <a:pt x="2268098" y="0"/>
                  </a:lnTo>
                  <a:cubicBezTo>
                    <a:pt x="2290908" y="0"/>
                    <a:pt x="2313262" y="6388"/>
                    <a:pt x="2332629" y="18439"/>
                  </a:cubicBezTo>
                  <a:close/>
                </a:path>
              </a:pathLst>
            </a:custGeom>
            <a:solidFill>
              <a:srgbClr val="8264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641" y="91017"/>
              <a:ext cx="1963233" cy="743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055588" y="2854257"/>
            <a:ext cx="8176824" cy="5498914"/>
          </a:xfrm>
          <a:custGeom>
            <a:avLst/>
            <a:gdLst/>
            <a:ahLst/>
            <a:cxnLst/>
            <a:rect l="l" t="t" r="r" b="b"/>
            <a:pathLst>
              <a:path w="8176824" h="5498914">
                <a:moveTo>
                  <a:pt x="0" y="0"/>
                </a:moveTo>
                <a:lnTo>
                  <a:pt x="8176824" y="0"/>
                </a:lnTo>
                <a:lnTo>
                  <a:pt x="8176824" y="5498915"/>
                </a:lnTo>
                <a:lnTo>
                  <a:pt x="0" y="5498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1811380" y="8857997"/>
            <a:ext cx="1421032" cy="932714"/>
          </a:xfrm>
          <a:custGeom>
            <a:avLst/>
            <a:gdLst/>
            <a:ahLst/>
            <a:cxnLst/>
            <a:rect l="l" t="t" r="r" b="b"/>
            <a:pathLst>
              <a:path w="1421032" h="932714">
                <a:moveTo>
                  <a:pt x="0" y="0"/>
                </a:moveTo>
                <a:lnTo>
                  <a:pt x="1421032" y="0"/>
                </a:lnTo>
                <a:lnTo>
                  <a:pt x="1421032" y="932713"/>
                </a:lnTo>
                <a:lnTo>
                  <a:pt x="0" y="932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5162361" y="8082679"/>
            <a:ext cx="4662986" cy="2204321"/>
          </a:xfrm>
          <a:custGeom>
            <a:avLst/>
            <a:gdLst/>
            <a:ahLst/>
            <a:cxnLst/>
            <a:rect l="l" t="t" r="r" b="b"/>
            <a:pathLst>
              <a:path w="4662986" h="2204321">
                <a:moveTo>
                  <a:pt x="0" y="0"/>
                </a:moveTo>
                <a:lnTo>
                  <a:pt x="4662986" y="0"/>
                </a:lnTo>
                <a:lnTo>
                  <a:pt x="4662986" y="2204321"/>
                </a:lnTo>
                <a:lnTo>
                  <a:pt x="0" y="2204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6921574" y="4536950"/>
            <a:ext cx="4444851" cy="1066764"/>
          </a:xfrm>
          <a:custGeom>
            <a:avLst/>
            <a:gdLst/>
            <a:ahLst/>
            <a:cxnLst/>
            <a:rect l="l" t="t" r="r" b="b"/>
            <a:pathLst>
              <a:path w="4444851" h="1066764">
                <a:moveTo>
                  <a:pt x="0" y="0"/>
                </a:moveTo>
                <a:lnTo>
                  <a:pt x="4444852" y="0"/>
                </a:lnTo>
                <a:lnTo>
                  <a:pt x="4444852" y="1066764"/>
                </a:lnTo>
                <a:lnTo>
                  <a:pt x="0" y="10667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-22362787" y="3826694"/>
            <a:ext cx="26551198" cy="8008366"/>
            <a:chOff x="0" y="0"/>
            <a:chExt cx="35401597" cy="1067782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35401597" cy="3188485"/>
              <a:chOff x="0" y="0"/>
              <a:chExt cx="3612642" cy="32537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612642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612642" h="325377">
                    <a:moveTo>
                      <a:pt x="12417" y="0"/>
                    </a:moveTo>
                    <a:lnTo>
                      <a:pt x="3600225" y="0"/>
                    </a:lnTo>
                    <a:cubicBezTo>
                      <a:pt x="3603518" y="0"/>
                      <a:pt x="3606676" y="1308"/>
                      <a:pt x="3609005" y="3637"/>
                    </a:cubicBezTo>
                    <a:cubicBezTo>
                      <a:pt x="3611334" y="5966"/>
                      <a:pt x="3612642" y="9124"/>
                      <a:pt x="3612642" y="12417"/>
                    </a:cubicBezTo>
                    <a:lnTo>
                      <a:pt x="3612642" y="312960"/>
                    </a:lnTo>
                    <a:cubicBezTo>
                      <a:pt x="3612642" y="319817"/>
                      <a:pt x="3607083" y="325377"/>
                      <a:pt x="3600225" y="325377"/>
                    </a:cubicBezTo>
                    <a:lnTo>
                      <a:pt x="12417" y="325377"/>
                    </a:lnTo>
                    <a:cubicBezTo>
                      <a:pt x="5559" y="325377"/>
                      <a:pt x="0" y="319817"/>
                      <a:pt x="0" y="312960"/>
                    </a:cubicBezTo>
                    <a:lnTo>
                      <a:pt x="0" y="12417"/>
                    </a:lnTo>
                    <a:cubicBezTo>
                      <a:pt x="0" y="5559"/>
                      <a:pt x="5559" y="0"/>
                      <a:pt x="12417" y="0"/>
                    </a:cubicBezTo>
                    <a:close/>
                  </a:path>
                </a:pathLst>
              </a:custGeom>
              <a:solidFill>
                <a:srgbClr val="61A6AB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3612642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102772" y="7317311"/>
              <a:ext cx="22731327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33931" y="3483508"/>
            <a:ext cx="3137528" cy="2765979"/>
          </a:xfrm>
          <a:custGeom>
            <a:avLst/>
            <a:gdLst/>
            <a:ahLst/>
            <a:cxnLst/>
            <a:rect l="l" t="t" r="r" b="b"/>
            <a:pathLst>
              <a:path w="3137528" h="2765979">
                <a:moveTo>
                  <a:pt x="0" y="0"/>
                </a:moveTo>
                <a:lnTo>
                  <a:pt x="3137529" y="0"/>
                </a:lnTo>
                <a:lnTo>
                  <a:pt x="3137529" y="2765978"/>
                </a:lnTo>
                <a:lnTo>
                  <a:pt x="0" y="27659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21"/>
          <p:cNvSpPr txBox="1"/>
          <p:nvPr/>
        </p:nvSpPr>
        <p:spPr>
          <a:xfrm>
            <a:off x="8109987" y="4818872"/>
            <a:ext cx="2376824" cy="46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u="sng" dirty="0">
                <a:solidFill>
                  <a:srgbClr val="517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  <a:hlinkClick r:id="rId11" tooltip="http://127.0.0.1:800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INICIAR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6962069" y="0"/>
            <a:ext cx="986062" cy="3766209"/>
          </a:xfrm>
          <a:custGeom>
            <a:avLst/>
            <a:gdLst/>
            <a:ahLst/>
            <a:cxnLst/>
            <a:rect l="l" t="t" r="r" b="b"/>
            <a:pathLst>
              <a:path w="986062" h="3766209">
                <a:moveTo>
                  <a:pt x="0" y="0"/>
                </a:moveTo>
                <a:lnTo>
                  <a:pt x="986062" y="0"/>
                </a:lnTo>
                <a:lnTo>
                  <a:pt x="986062" y="3766209"/>
                </a:lnTo>
                <a:lnTo>
                  <a:pt x="0" y="3766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10818" y="6906138"/>
            <a:ext cx="1231678" cy="4704324"/>
          </a:xfrm>
          <a:custGeom>
            <a:avLst/>
            <a:gdLst/>
            <a:ahLst/>
            <a:cxnLst/>
            <a:rect l="l" t="t" r="r" b="b"/>
            <a:pathLst>
              <a:path w="1231678" h="4704324">
                <a:moveTo>
                  <a:pt x="0" y="0"/>
                </a:moveTo>
                <a:lnTo>
                  <a:pt x="1231677" y="0"/>
                </a:lnTo>
                <a:lnTo>
                  <a:pt x="1231677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544842" y="3874159"/>
            <a:ext cx="11453122" cy="30566400"/>
            <a:chOff x="0" y="0"/>
            <a:chExt cx="15270829" cy="4075519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2284676" cy="3893830"/>
              <a:chOff x="0" y="0"/>
              <a:chExt cx="2411702" cy="76442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11702" cy="764429"/>
              </a:xfrm>
              <a:custGeom>
                <a:avLst/>
                <a:gdLst/>
                <a:ahLst/>
                <a:cxnLst/>
                <a:rect l="l" t="t" r="r" b="b"/>
                <a:pathLst>
                  <a:path w="2411702" h="764429">
                    <a:moveTo>
                      <a:pt x="18718" y="0"/>
                    </a:moveTo>
                    <a:lnTo>
                      <a:pt x="2392985" y="0"/>
                    </a:lnTo>
                    <a:cubicBezTo>
                      <a:pt x="2397949" y="0"/>
                      <a:pt x="2402710" y="1972"/>
                      <a:pt x="2406220" y="5482"/>
                    </a:cubicBezTo>
                    <a:cubicBezTo>
                      <a:pt x="2409730" y="8992"/>
                      <a:pt x="2411702" y="13753"/>
                      <a:pt x="2411702" y="18718"/>
                    </a:cubicBezTo>
                    <a:lnTo>
                      <a:pt x="2411702" y="745711"/>
                    </a:lnTo>
                    <a:cubicBezTo>
                      <a:pt x="2411702" y="756049"/>
                      <a:pt x="2403322" y="764429"/>
                      <a:pt x="2392985" y="764429"/>
                    </a:cubicBezTo>
                    <a:lnTo>
                      <a:pt x="18718" y="764429"/>
                    </a:lnTo>
                    <a:cubicBezTo>
                      <a:pt x="13753" y="764429"/>
                      <a:pt x="8992" y="762457"/>
                      <a:pt x="5482" y="758946"/>
                    </a:cubicBezTo>
                    <a:cubicBezTo>
                      <a:pt x="1972" y="755436"/>
                      <a:pt x="0" y="750675"/>
                      <a:pt x="0" y="745711"/>
                    </a:cubicBezTo>
                    <a:lnTo>
                      <a:pt x="0" y="18718"/>
                    </a:lnTo>
                    <a:cubicBezTo>
                      <a:pt x="0" y="8380"/>
                      <a:pt x="8380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411702" cy="802529"/>
              </a:xfrm>
              <a:prstGeom prst="rect">
                <a:avLst/>
              </a:prstGeom>
            </p:spPr>
            <p:txBody>
              <a:bodyPr lIns="57366" tIns="57366" rIns="57366" bIns="57366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825112" y="822310"/>
              <a:ext cx="721938" cy="727227"/>
            </a:xfrm>
            <a:custGeom>
              <a:avLst/>
              <a:gdLst/>
              <a:ahLst/>
              <a:cxnLst/>
              <a:rect l="l" t="t" r="r" b="b"/>
              <a:pathLst>
                <a:path w="721938" h="727227">
                  <a:moveTo>
                    <a:pt x="0" y="0"/>
                  </a:moveTo>
                  <a:lnTo>
                    <a:pt x="721938" y="0"/>
                  </a:lnTo>
                  <a:lnTo>
                    <a:pt x="721938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5775184" y="797240"/>
              <a:ext cx="632870" cy="752297"/>
            </a:xfrm>
            <a:custGeom>
              <a:avLst/>
              <a:gdLst/>
              <a:ahLst/>
              <a:cxnLst/>
              <a:rect l="l" t="t" r="r" b="b"/>
              <a:pathLst>
                <a:path w="632870" h="752297">
                  <a:moveTo>
                    <a:pt x="0" y="0"/>
                  </a:moveTo>
                  <a:lnTo>
                    <a:pt x="632869" y="0"/>
                  </a:lnTo>
                  <a:lnTo>
                    <a:pt x="632869" y="752297"/>
                  </a:lnTo>
                  <a:lnTo>
                    <a:pt x="0" y="752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9603345" y="822310"/>
              <a:ext cx="654504" cy="727227"/>
            </a:xfrm>
            <a:custGeom>
              <a:avLst/>
              <a:gdLst/>
              <a:ahLst/>
              <a:cxnLst/>
              <a:rect l="l" t="t" r="r" b="b"/>
              <a:pathLst>
                <a:path w="654504" h="727227">
                  <a:moveTo>
                    <a:pt x="0" y="0"/>
                  </a:moveTo>
                  <a:lnTo>
                    <a:pt x="654504" y="0"/>
                  </a:lnTo>
                  <a:lnTo>
                    <a:pt x="654504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035" y="1678507"/>
              <a:ext cx="3244095" cy="1583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EXPERIENCIA SIMPLE</a:t>
              </a:r>
            </a:p>
            <a:p>
              <a:pPr algn="ctr">
                <a:lnSpc>
                  <a:spcPts val="1247"/>
                </a:lnSpc>
              </a:pPr>
              <a:endParaRPr lang="en-US" sz="1603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endParaRPr>
            </a:p>
            <a:p>
              <a:pPr algn="ctr">
                <a:lnSpc>
                  <a:spcPts val="1995"/>
                </a:lnSpc>
                <a:spcBef>
                  <a:spcPct val="0"/>
                </a:spcBef>
              </a:pP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Transformamos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la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confusión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en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selección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fácil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y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guiada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94825" y="1678507"/>
              <a:ext cx="2993587" cy="1241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COMPRA SEGURA</a:t>
              </a:r>
            </a:p>
            <a:p>
              <a:pPr algn="ctr">
                <a:lnSpc>
                  <a:spcPts val="1247"/>
                </a:lnSpc>
              </a:pPr>
              <a:endParaRPr lang="en-US" sz="1603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endParaRPr>
            </a:p>
            <a:p>
              <a:pPr algn="ctr">
                <a:lnSpc>
                  <a:spcPts val="1995"/>
                </a:lnSpc>
                <a:spcBef>
                  <a:spcPct val="0"/>
                </a:spcBef>
              </a:pP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Eliminamos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el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riesgo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de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equivocarse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8550" y="1678507"/>
              <a:ext cx="3244095" cy="1583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INVERSIÓN INTELIGENTE</a:t>
              </a:r>
            </a:p>
            <a:p>
              <a:pPr algn="ctr">
                <a:lnSpc>
                  <a:spcPts val="1247"/>
                </a:lnSpc>
              </a:pPr>
              <a:endParaRPr lang="en-US" sz="1603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endParaRPr>
            </a:p>
            <a:p>
              <a:pPr algn="ctr">
                <a:lnSpc>
                  <a:spcPts val="1995"/>
                </a:lnSpc>
                <a:spcBef>
                  <a:spcPct val="0"/>
                </a:spcBef>
              </a:pP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Compatibilidad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perfecta. Mejor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precio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/ </a:t>
              </a:r>
              <a:r>
                <a:rPr lang="en-US" sz="1425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rendimiento</a:t>
              </a:r>
              <a:r>
                <a:rPr lang="en-US" sz="1425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4174486" y="349855"/>
              <a:ext cx="0" cy="3269576"/>
            </a:xfrm>
            <a:prstGeom prst="line">
              <a:avLst/>
            </a:prstGeom>
            <a:ln w="22632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7950521" y="312127"/>
              <a:ext cx="0" cy="3269576"/>
            </a:xfrm>
            <a:prstGeom prst="line">
              <a:avLst/>
            </a:prstGeom>
            <a:ln w="22632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4077183"/>
              <a:ext cx="12284676" cy="1277143"/>
              <a:chOff x="0" y="0"/>
              <a:chExt cx="2411702" cy="2507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411702" cy="250726"/>
              </a:xfrm>
              <a:custGeom>
                <a:avLst/>
                <a:gdLst/>
                <a:ahLst/>
                <a:cxnLst/>
                <a:rect l="l" t="t" r="r" b="b"/>
                <a:pathLst>
                  <a:path w="2411702" h="250726">
                    <a:moveTo>
                      <a:pt x="18718" y="0"/>
                    </a:moveTo>
                    <a:lnTo>
                      <a:pt x="2392985" y="0"/>
                    </a:lnTo>
                    <a:cubicBezTo>
                      <a:pt x="2397949" y="0"/>
                      <a:pt x="2402710" y="1972"/>
                      <a:pt x="2406220" y="5482"/>
                    </a:cubicBezTo>
                    <a:cubicBezTo>
                      <a:pt x="2409730" y="8992"/>
                      <a:pt x="2411702" y="13753"/>
                      <a:pt x="2411702" y="18718"/>
                    </a:cubicBezTo>
                    <a:lnTo>
                      <a:pt x="2411702" y="232009"/>
                    </a:lnTo>
                    <a:cubicBezTo>
                      <a:pt x="2411702" y="242346"/>
                      <a:pt x="2403322" y="250726"/>
                      <a:pt x="2392985" y="250726"/>
                    </a:cubicBezTo>
                    <a:lnTo>
                      <a:pt x="18718" y="250726"/>
                    </a:lnTo>
                    <a:cubicBezTo>
                      <a:pt x="13753" y="250726"/>
                      <a:pt x="8992" y="248754"/>
                      <a:pt x="5482" y="245244"/>
                    </a:cubicBezTo>
                    <a:cubicBezTo>
                      <a:pt x="1972" y="241734"/>
                      <a:pt x="0" y="236973"/>
                      <a:pt x="0" y="232009"/>
                    </a:cubicBezTo>
                    <a:lnTo>
                      <a:pt x="0" y="18718"/>
                    </a:lnTo>
                    <a:cubicBezTo>
                      <a:pt x="0" y="8380"/>
                      <a:pt x="8380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2411702" cy="288826"/>
              </a:xfrm>
              <a:prstGeom prst="rect">
                <a:avLst/>
              </a:prstGeom>
            </p:spPr>
            <p:txBody>
              <a:bodyPr lIns="57366" tIns="57366" rIns="57366" bIns="57366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63717" y="4393172"/>
              <a:ext cx="11457653" cy="727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45"/>
                </a:lnSpc>
              </a:pPr>
              <a:r>
                <a:rPr lang="en-US" sz="1603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¡ÚNETE A LA REVOLUCIÓN DE LA COMPRA INTELIGENTE!</a:t>
              </a:r>
            </a:p>
            <a:p>
              <a:pPr algn="ctr">
                <a:lnSpc>
                  <a:spcPts val="2245"/>
                </a:lnSpc>
                <a:spcBef>
                  <a:spcPct val="0"/>
                </a:spcBef>
              </a:pP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Asegura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tu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mejor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 </a:t>
              </a:r>
              <a:r>
                <a:rPr lang="en-US" sz="1603" dirty="0" err="1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inversión</a:t>
              </a:r>
              <a:r>
                <a:rPr lang="en-US" sz="1603" dirty="0">
                  <a:solidFill>
                    <a:srgbClr val="000000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5532127"/>
              <a:ext cx="12284676" cy="908843"/>
              <a:chOff x="0" y="0"/>
              <a:chExt cx="2411702" cy="17842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411702" cy="178422"/>
              </a:xfrm>
              <a:custGeom>
                <a:avLst/>
                <a:gdLst/>
                <a:ahLst/>
                <a:cxnLst/>
                <a:rect l="l" t="t" r="r" b="b"/>
                <a:pathLst>
                  <a:path w="2411702" h="178422">
                    <a:moveTo>
                      <a:pt x="18718" y="0"/>
                    </a:moveTo>
                    <a:lnTo>
                      <a:pt x="2392985" y="0"/>
                    </a:lnTo>
                    <a:cubicBezTo>
                      <a:pt x="2397949" y="0"/>
                      <a:pt x="2402710" y="1972"/>
                      <a:pt x="2406220" y="5482"/>
                    </a:cubicBezTo>
                    <a:cubicBezTo>
                      <a:pt x="2409730" y="8992"/>
                      <a:pt x="2411702" y="13753"/>
                      <a:pt x="2411702" y="18718"/>
                    </a:cubicBezTo>
                    <a:lnTo>
                      <a:pt x="2411702" y="159705"/>
                    </a:lnTo>
                    <a:cubicBezTo>
                      <a:pt x="2411702" y="164669"/>
                      <a:pt x="2409730" y="169430"/>
                      <a:pt x="2406220" y="172940"/>
                    </a:cubicBezTo>
                    <a:cubicBezTo>
                      <a:pt x="2402710" y="176450"/>
                      <a:pt x="2397949" y="178422"/>
                      <a:pt x="2392985" y="178422"/>
                    </a:cubicBezTo>
                    <a:lnTo>
                      <a:pt x="18718" y="178422"/>
                    </a:lnTo>
                    <a:cubicBezTo>
                      <a:pt x="8380" y="178422"/>
                      <a:pt x="0" y="170042"/>
                      <a:pt x="0" y="159705"/>
                    </a:cubicBezTo>
                    <a:lnTo>
                      <a:pt x="0" y="18718"/>
                    </a:lnTo>
                    <a:cubicBezTo>
                      <a:pt x="0" y="8380"/>
                      <a:pt x="8380" y="0"/>
                      <a:pt x="187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411702" cy="216522"/>
              </a:xfrm>
              <a:prstGeom prst="rect">
                <a:avLst/>
              </a:prstGeom>
            </p:spPr>
            <p:txBody>
              <a:bodyPr lIns="57366" tIns="57366" rIns="57366" bIns="57366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63717" y="5848115"/>
              <a:ext cx="11457653" cy="362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45"/>
                </a:lnSpc>
                <a:spcBef>
                  <a:spcPct val="0"/>
                </a:spcBef>
              </a:pPr>
              <a:r>
                <a:rPr lang="en-US" sz="1603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ATENTAMENTE: </a:t>
              </a:r>
              <a:r>
                <a:rPr lang="en-US" sz="1603" dirty="0" err="1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MiPC</a:t>
              </a:r>
              <a:r>
                <a:rPr lang="en-US" sz="1603" dirty="0">
                  <a:solidFill>
                    <a:srgbClr val="00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 Ideal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 rot="-5400000">
              <a:off x="-10880964" y="22092742"/>
              <a:ext cx="34136428" cy="3188485"/>
              <a:chOff x="0" y="0"/>
              <a:chExt cx="3483535" cy="32537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483535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483535" h="325377">
                    <a:moveTo>
                      <a:pt x="5928" y="0"/>
                    </a:moveTo>
                    <a:lnTo>
                      <a:pt x="3477607" y="0"/>
                    </a:lnTo>
                    <a:cubicBezTo>
                      <a:pt x="3480881" y="0"/>
                      <a:pt x="3483535" y="2654"/>
                      <a:pt x="3483535" y="5928"/>
                    </a:cubicBezTo>
                    <a:lnTo>
                      <a:pt x="3483535" y="319449"/>
                    </a:lnTo>
                    <a:cubicBezTo>
                      <a:pt x="3483535" y="321021"/>
                      <a:pt x="3482910" y="322529"/>
                      <a:pt x="3481798" y="323640"/>
                    </a:cubicBezTo>
                    <a:cubicBezTo>
                      <a:pt x="3480687" y="324752"/>
                      <a:pt x="3479179" y="325377"/>
                      <a:pt x="3477607" y="325377"/>
                    </a:cubicBezTo>
                    <a:lnTo>
                      <a:pt x="5928" y="325377"/>
                    </a:lnTo>
                    <a:cubicBezTo>
                      <a:pt x="2654" y="325377"/>
                      <a:pt x="0" y="322723"/>
                      <a:pt x="0" y="319449"/>
                    </a:cubicBezTo>
                    <a:lnTo>
                      <a:pt x="0" y="5928"/>
                    </a:lnTo>
                    <a:cubicBezTo>
                      <a:pt x="0" y="2654"/>
                      <a:pt x="2654" y="0"/>
                      <a:pt x="5928" y="0"/>
                    </a:cubicBezTo>
                    <a:close/>
                  </a:path>
                </a:pathLst>
              </a:custGeom>
              <a:solidFill>
                <a:srgbClr val="61A6AB"/>
              </a:solidFill>
              <a:ln cap="rnd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3483535" cy="363477"/>
              </a:xfrm>
              <a:prstGeom prst="rect">
                <a:avLst/>
              </a:prstGeom>
            </p:spPr>
            <p:txBody>
              <a:bodyPr lIns="110360" tIns="110360" rIns="110360" bIns="11036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 rot="-5400000">
              <a:off x="2631092" y="24159313"/>
              <a:ext cx="21918964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198092" y="6796570"/>
              <a:ext cx="1888493" cy="1681499"/>
            </a:xfrm>
            <a:custGeom>
              <a:avLst/>
              <a:gdLst/>
              <a:ahLst/>
              <a:cxnLst/>
              <a:rect l="l" t="t" r="r" b="b"/>
              <a:pathLst>
                <a:path w="1888493" h="1681499">
                  <a:moveTo>
                    <a:pt x="0" y="0"/>
                  </a:moveTo>
                  <a:lnTo>
                    <a:pt x="1888492" y="0"/>
                  </a:lnTo>
                  <a:lnTo>
                    <a:pt x="1888492" y="1681499"/>
                  </a:lnTo>
                  <a:lnTo>
                    <a:pt x="0" y="1681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6921" y="-1455574"/>
            <a:ext cx="15229348" cy="4835586"/>
            <a:chOff x="0" y="0"/>
            <a:chExt cx="20305797" cy="6447448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20305797" cy="6447448"/>
              <a:chOff x="0" y="0"/>
              <a:chExt cx="4011022" cy="127357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11021" cy="1273570"/>
              </a:xfrm>
              <a:custGeom>
                <a:avLst/>
                <a:gdLst/>
                <a:ahLst/>
                <a:cxnLst/>
                <a:rect l="l" t="t" r="r" b="b"/>
                <a:pathLst>
                  <a:path w="4011021" h="1273570">
                    <a:moveTo>
                      <a:pt x="11184" y="0"/>
                    </a:moveTo>
                    <a:lnTo>
                      <a:pt x="3999838" y="0"/>
                    </a:lnTo>
                    <a:cubicBezTo>
                      <a:pt x="4006014" y="0"/>
                      <a:pt x="4011021" y="5007"/>
                      <a:pt x="4011021" y="11184"/>
                    </a:cubicBezTo>
                    <a:lnTo>
                      <a:pt x="4011021" y="1262386"/>
                    </a:lnTo>
                    <a:cubicBezTo>
                      <a:pt x="4011021" y="1268563"/>
                      <a:pt x="4006014" y="1273570"/>
                      <a:pt x="3999838" y="1273570"/>
                    </a:cubicBezTo>
                    <a:lnTo>
                      <a:pt x="11184" y="1273570"/>
                    </a:lnTo>
                    <a:cubicBezTo>
                      <a:pt x="5007" y="1273570"/>
                      <a:pt x="0" y="1268563"/>
                      <a:pt x="0" y="1262386"/>
                    </a:cubicBezTo>
                    <a:lnTo>
                      <a:pt x="0" y="11184"/>
                    </a:lnTo>
                    <a:cubicBezTo>
                      <a:pt x="0" y="5007"/>
                      <a:pt x="5007" y="0"/>
                      <a:pt x="11184" y="0"/>
                    </a:cubicBezTo>
                    <a:close/>
                  </a:path>
                </a:pathLst>
              </a:custGeom>
              <a:solidFill>
                <a:srgbClr val="F0DFC8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4011022" cy="13116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3204415"/>
              <a:ext cx="20257838" cy="2914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30"/>
                </a:lnSpc>
              </a:pPr>
              <a:r>
                <a:rPr lang="en-US" sz="8649" dirty="0">
                  <a:solidFill>
                    <a:srgbClr val="292929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DM Serif Display"/>
                  <a:ea typeface="DM Serif Display"/>
                  <a:cs typeface="DM Serif Display"/>
                  <a:sym typeface="DM Serif Display"/>
                </a:rPr>
                <a:t>EL FUTURO DE LA COMPRA INTELIGENTE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236356" y="725178"/>
            <a:ext cx="27891675" cy="8008366"/>
            <a:chOff x="0" y="0"/>
            <a:chExt cx="37188900" cy="106778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7188900" cy="3188485"/>
              <a:chOff x="0" y="0"/>
              <a:chExt cx="3795032" cy="3253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795032" cy="325377"/>
              </a:xfrm>
              <a:custGeom>
                <a:avLst/>
                <a:gdLst/>
                <a:ahLst/>
                <a:cxnLst/>
                <a:rect l="l" t="t" r="r" b="b"/>
                <a:pathLst>
                  <a:path w="3795032" h="325377">
                    <a:moveTo>
                      <a:pt x="11820" y="0"/>
                    </a:moveTo>
                    <a:lnTo>
                      <a:pt x="3783211" y="0"/>
                    </a:lnTo>
                    <a:cubicBezTo>
                      <a:pt x="3786346" y="0"/>
                      <a:pt x="3789353" y="1245"/>
                      <a:pt x="3791569" y="3462"/>
                    </a:cubicBezTo>
                    <a:cubicBezTo>
                      <a:pt x="3793786" y="5679"/>
                      <a:pt x="3795032" y="8685"/>
                      <a:pt x="3795032" y="11820"/>
                    </a:cubicBezTo>
                    <a:lnTo>
                      <a:pt x="3795032" y="313556"/>
                    </a:lnTo>
                    <a:cubicBezTo>
                      <a:pt x="3795032" y="320085"/>
                      <a:pt x="3789739" y="325377"/>
                      <a:pt x="3783211" y="325377"/>
                    </a:cubicBezTo>
                    <a:lnTo>
                      <a:pt x="11820" y="325377"/>
                    </a:lnTo>
                    <a:cubicBezTo>
                      <a:pt x="5292" y="325377"/>
                      <a:pt x="0" y="320085"/>
                      <a:pt x="0" y="313556"/>
                    </a:cubicBezTo>
                    <a:lnTo>
                      <a:pt x="0" y="11820"/>
                    </a:lnTo>
                    <a:cubicBezTo>
                      <a:pt x="0" y="5292"/>
                      <a:pt x="5292" y="0"/>
                      <a:pt x="11820" y="0"/>
                    </a:cubicBezTo>
                    <a:close/>
                  </a:path>
                </a:pathLst>
              </a:custGeom>
              <a:solidFill>
                <a:srgbClr val="EECACA"/>
              </a:solidFill>
              <a:ln cap="rnd">
                <a:noFill/>
                <a:prstDash val="sysDot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3795032" cy="3634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4309906" y="7317311"/>
              <a:ext cx="23878952" cy="3360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64326" y="3345931"/>
            <a:ext cx="20327088" cy="5505781"/>
            <a:chOff x="0" y="0"/>
            <a:chExt cx="5353636" cy="14500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53636" cy="1450082"/>
            </a:xfrm>
            <a:custGeom>
              <a:avLst/>
              <a:gdLst/>
              <a:ahLst/>
              <a:cxnLst/>
              <a:rect l="l" t="t" r="r" b="b"/>
              <a:pathLst>
                <a:path w="5353636" h="1450082">
                  <a:moveTo>
                    <a:pt x="0" y="0"/>
                  </a:moveTo>
                  <a:lnTo>
                    <a:pt x="5353636" y="0"/>
                  </a:lnTo>
                  <a:lnTo>
                    <a:pt x="5353636" y="1450082"/>
                  </a:lnTo>
                  <a:lnTo>
                    <a:pt x="0" y="1450082"/>
                  </a:lnTo>
                  <a:close/>
                </a:path>
              </a:pathLst>
            </a:custGeom>
            <a:solidFill>
              <a:srgbClr val="94D4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353636" cy="1488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0534073" y="2353226"/>
            <a:ext cx="986062" cy="3766209"/>
          </a:xfrm>
          <a:custGeom>
            <a:avLst/>
            <a:gdLst/>
            <a:ahLst/>
            <a:cxnLst/>
            <a:rect l="l" t="t" r="r" b="b"/>
            <a:pathLst>
              <a:path w="986062" h="3766209">
                <a:moveTo>
                  <a:pt x="0" y="0"/>
                </a:moveTo>
                <a:lnTo>
                  <a:pt x="986062" y="0"/>
                </a:lnTo>
                <a:lnTo>
                  <a:pt x="986062" y="3766209"/>
                </a:lnTo>
                <a:lnTo>
                  <a:pt x="0" y="3766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1950818" y="2043385"/>
            <a:ext cx="5856884" cy="5910617"/>
          </a:xfrm>
          <a:custGeom>
            <a:avLst/>
            <a:gdLst/>
            <a:ahLst/>
            <a:cxnLst/>
            <a:rect l="l" t="t" r="r" b="b"/>
            <a:pathLst>
              <a:path w="5856884" h="5910617">
                <a:moveTo>
                  <a:pt x="0" y="0"/>
                </a:moveTo>
                <a:lnTo>
                  <a:pt x="5856884" y="0"/>
                </a:lnTo>
                <a:lnTo>
                  <a:pt x="5856884" y="5910617"/>
                </a:lnTo>
                <a:lnTo>
                  <a:pt x="0" y="5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 rot="5400000">
            <a:off x="754409" y="5896602"/>
            <a:ext cx="1077329" cy="4114800"/>
          </a:xfrm>
          <a:custGeom>
            <a:avLst/>
            <a:gdLst/>
            <a:ahLst/>
            <a:cxnLst/>
            <a:rect l="l" t="t" r="r" b="b"/>
            <a:pathLst>
              <a:path w="1077329" h="4114800">
                <a:moveTo>
                  <a:pt x="0" y="0"/>
                </a:moveTo>
                <a:lnTo>
                  <a:pt x="1077330" y="0"/>
                </a:lnTo>
                <a:lnTo>
                  <a:pt x="10773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5342436" y="9411350"/>
            <a:ext cx="2705780" cy="666298"/>
          </a:xfrm>
          <a:custGeom>
            <a:avLst/>
            <a:gdLst/>
            <a:ahLst/>
            <a:cxnLst/>
            <a:rect l="l" t="t" r="r" b="b"/>
            <a:pathLst>
              <a:path w="2705780" h="666298">
                <a:moveTo>
                  <a:pt x="0" y="0"/>
                </a:moveTo>
                <a:lnTo>
                  <a:pt x="2705780" y="0"/>
                </a:lnTo>
                <a:lnTo>
                  <a:pt x="2705780" y="666298"/>
                </a:lnTo>
                <a:lnTo>
                  <a:pt x="0" y="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796615" y="892565"/>
            <a:ext cx="2349986" cy="2071698"/>
          </a:xfrm>
          <a:custGeom>
            <a:avLst/>
            <a:gdLst/>
            <a:ahLst/>
            <a:cxnLst/>
            <a:rect l="l" t="t" r="r" b="b"/>
            <a:pathLst>
              <a:path w="2349986" h="2071698">
                <a:moveTo>
                  <a:pt x="0" y="0"/>
                </a:moveTo>
                <a:lnTo>
                  <a:pt x="2349986" y="0"/>
                </a:lnTo>
                <a:lnTo>
                  <a:pt x="2349986" y="2071699"/>
                </a:lnTo>
                <a:lnTo>
                  <a:pt x="0" y="20716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768906" y="5077691"/>
            <a:ext cx="10657744" cy="19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61"/>
              </a:lnSpc>
              <a:spcBef>
                <a:spcPct val="0"/>
              </a:spcBef>
            </a:pPr>
            <a:r>
              <a:rPr lang="en-US" sz="14137" dirty="0">
                <a:solidFill>
                  <a:srgbClr val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M Serif Display"/>
                <a:ea typeface="DM Serif Display"/>
                <a:cs typeface="DM Serif Display"/>
                <a:sym typeface="DM Serif Display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457</Words>
  <Application>Microsoft Office PowerPoint</Application>
  <PresentationFormat>Personalizado</PresentationFormat>
  <Paragraphs>113</Paragraphs>
  <Slides>13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DM Serif Display</vt:lpstr>
      <vt:lpstr>Arial</vt:lpstr>
      <vt:lpstr>Touvlo</vt:lpstr>
      <vt:lpstr>Hammersmith One</vt:lpstr>
      <vt:lpstr>Touvlo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Mint Illustrative Computer Presentation</dc:title>
  <cp:lastModifiedBy>CRISTIAN RAFAEL NUNEZ PARRA</cp:lastModifiedBy>
  <cp:revision>3</cp:revision>
  <dcterms:created xsi:type="dcterms:W3CDTF">2006-08-16T00:00:00Z</dcterms:created>
  <dcterms:modified xsi:type="dcterms:W3CDTF">2025-11-30T22:38:13Z</dcterms:modified>
  <dc:identifier>DAG51_oacs8</dc:identifier>
</cp:coreProperties>
</file>