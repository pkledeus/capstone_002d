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3" r:id="rId11"/>
    <p:sldId id="265" r:id="rId12"/>
  </p:sldIdLst>
  <p:sldSz cx="18288000" cy="10287000"/>
  <p:notesSz cx="6858000" cy="9144000"/>
  <p:embeddedFontLst>
    <p:embeddedFont>
      <p:font typeface="Hammersmith One" panose="02010703030501060504" pitchFamily="2" charset="0"/>
      <p:regular r:id="rId14"/>
    </p:embeddedFont>
    <p:embeddedFont>
      <p:font typeface="Touvl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351" autoAdjust="0"/>
  </p:normalViewPr>
  <p:slideViewPr>
    <p:cSldViewPr>
      <p:cViewPr varScale="1">
        <p:scale>
          <a:sx n="63" d="100"/>
          <a:sy n="63" d="100"/>
        </p:scale>
        <p:origin x="11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32B5A-1130-45DD-BDAB-3F094FE5C95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7588C-4E56-42DB-9263-AD6C3DBC28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839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contamos que el proyecto nace porque hoy la gente depende del computador para casi todo, pero el momento de compra sigue siendo complejo. Las tiendas muestran fichas técnicas y marketing, pero no explican si “sirve para mí”. Personas que no dominan términos como “Socket, chipset, VRAM” tienen miedo a equivocarse. Además la información está repartida en muchas fuentes: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foros, e‑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commerce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Esa combinación genera confusión, pérdida de tiempo y, muchas veces, malas compras.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892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profundizamos: un usuario promedio no sabe si una fuente de poder es suficiente, si la placa soporta la RAM que quiere, o si la gráfica queda “desbalanceada” con el procesador. Al final se basa en recomendaciones sueltas (“me dijeron que esta marca era buena”) o en lo más barato/caro. El resultado puede ser un equipo que no corre bien los juegos, que no sirve para edición de video o que directamente no enciende por incompatibilidades. No hay un lugar que le muestre “esto es lo que necesitas y por qué”.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561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idea es que el usuario entre, diga para qué quiere el PC, cuánto puede gastar, y la plataforma le proponga alternativas justificadas, no “mágicas”. Cada recomendación explica por qué: perfil de uso, componentes clave y compatibilidad. El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por su parte, puede mantener la información viva, revisar cuando alguien reporta un error y ver qué productos se ven más y cuáles tienen información incompleta. No somos un e‑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commerce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nos enfocamos en orientar, no en vender.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944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objetivo no es solo “mostrar productos”, sino reducir la incertidumbre al comprar. Queremos que alguien que no es experto salga de la plataforma entendiendo qué comprar y por qué, evitando errores de compatibilidad y ajustando mejor la relación precio/rendimiento.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7746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objetivo aterriza algo concreto: desde “la puerta de entrada” (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perfiles) hasta la calidad de los datos, pasando por el motor que da sentido al proyecto. Remarcamos que no basta con recomendar: hay que explicar, cuidar la experiencia visual y asegurar que lo implementado está realmente probado.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521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Puedes comentar cómo dividimos los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sprints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/perfil, catálogo,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recomendador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favoritos/reportes,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/pulido), y cómo las retrospectivas nos permitieron ir ajustando decisiones técnicas y de diseño. Resalta que el trabajo no fue lineal “de una sola vez”, sino en capas: primero algo simple pero funcional, luego se fue refinando.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4571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foco aquí es mostrar que hubo planificación y seguimiento. Si pones una captura de Trello o un gráfico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burndown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comenta cómo estimaron puntos, cómo ajustaron cuando aparecieron tareas nuevas y cómo se distribuyeron las responsabilidades.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6718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2016-041C-24FD-75EB-431016FC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74B8BA-022D-F7A4-023D-37C4D9E8D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105BEA-A915-AE6B-6D5E-8A2486BB2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la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muestra los UML, y se explican. Se comenta que optaros por una arquitectura monolítica sencilla pero organizada en capas: vistas, servicios y modelos. Subraya que la separación permite cambiar reglas de recomendación o compatibilidad sin reescribir todo el sitio, y que el panel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“lee” la misma información que consumen las vistas públicas.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61369-8EC1-26EE-81C8-E651752E5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978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justificar brevemente por qué Django (rapidez de desarrollo,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integrado, ORM que simplifica datos), por qué SQLite para el entorno académico (ligero y suficiente) y cómo Bootstrap y el CSS propio permitieron llegar al diseño actual (modo oscuro/clarito,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etc.). También mencionar que, aunque el </a:t>
            </a: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sencillo, la estructura permite escalar (cambiar BD, agregar cache, etc.) sin cambiar el modelo conceptual.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7588C-4E56-42DB-9263-AD6C3DBC286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0338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7.png"/><Relationship Id="rId5" Type="http://schemas.openxmlformats.org/officeDocument/2006/relationships/image" Target="../media/image15.png"/><Relationship Id="rId10" Type="http://schemas.openxmlformats.org/officeDocument/2006/relationships/image" Target="../media/image26.pn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1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2.svg"/><Relationship Id="rId7" Type="http://schemas.openxmlformats.org/officeDocument/2006/relationships/image" Target="../media/image44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8756" y="2779633"/>
            <a:ext cx="11513478" cy="320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6"/>
              </a:lnSpc>
            </a:pPr>
            <a:r>
              <a:rPr lang="en-US" sz="14697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MiPc Ideal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(Recomendación Pc y Componentes)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184028" y="-187195"/>
            <a:ext cx="5401691" cy="10661390"/>
            <a:chOff x="0" y="0"/>
            <a:chExt cx="1422668" cy="28079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2668" cy="2807938"/>
            </a:xfrm>
            <a:custGeom>
              <a:avLst/>
              <a:gdLst/>
              <a:ahLst/>
              <a:cxnLst/>
              <a:rect l="l" t="t" r="r" b="b"/>
              <a:pathLst>
                <a:path w="1422668" h="2807938">
                  <a:moveTo>
                    <a:pt x="0" y="0"/>
                  </a:moveTo>
                  <a:lnTo>
                    <a:pt x="1422668" y="0"/>
                  </a:lnTo>
                  <a:lnTo>
                    <a:pt x="142266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94D4C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22668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265097" y="3179683"/>
            <a:ext cx="6331273" cy="5352803"/>
          </a:xfrm>
          <a:custGeom>
            <a:avLst/>
            <a:gdLst/>
            <a:ahLst/>
            <a:cxnLst/>
            <a:rect l="l" t="t" r="r" b="b"/>
            <a:pathLst>
              <a:path w="6331273" h="5352803">
                <a:moveTo>
                  <a:pt x="0" y="0"/>
                </a:moveTo>
                <a:lnTo>
                  <a:pt x="6331273" y="0"/>
                </a:lnTo>
                <a:lnTo>
                  <a:pt x="6331273" y="5352804"/>
                </a:lnTo>
                <a:lnTo>
                  <a:pt x="0" y="535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rot="5400000">
            <a:off x="1313848" y="6529251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0800000">
            <a:off x="9144000" y="-1264285"/>
            <a:ext cx="1077329" cy="4114800"/>
          </a:xfrm>
          <a:custGeom>
            <a:avLst/>
            <a:gdLst/>
            <a:ahLst/>
            <a:cxnLst/>
            <a:rect l="l" t="t" r="r" b="b"/>
            <a:pathLst>
              <a:path w="1077329" h="4114800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30503" y="9378792"/>
            <a:ext cx="1465866" cy="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756" y="6648347"/>
            <a:ext cx="9068598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endParaRPr/>
          </a:p>
          <a:p>
            <a:pPr algn="just">
              <a:lnSpc>
                <a:spcPts val="2799"/>
              </a:lnSpc>
            </a:pPr>
            <a:endParaRPr/>
          </a:p>
          <a:p>
            <a:pPr algn="just">
              <a:lnSpc>
                <a:spcPts val="2799"/>
              </a:lnSpc>
            </a:pPr>
            <a:endParaRPr/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Asignatura: CAPSTONE 002D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Docente: Jorge Castro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Integrantes: Carlos Saavedra - Cristian Nuñez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0655" y="2542897"/>
            <a:ext cx="7641410" cy="148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04"/>
              </a:lnSpc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Contexto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8" name="Freeform 8"/>
          <p:cNvSpPr/>
          <p:nvPr/>
        </p:nvSpPr>
        <p:spPr>
          <a:xfrm>
            <a:off x="1942495" y="2088122"/>
            <a:ext cx="4172487" cy="7475140"/>
          </a:xfrm>
          <a:custGeom>
            <a:avLst/>
            <a:gdLst/>
            <a:ahLst/>
            <a:cxnLst/>
            <a:rect l="l" t="t" r="r" b="b"/>
            <a:pathLst>
              <a:path w="4172487" h="7475140">
                <a:moveTo>
                  <a:pt x="0" y="0"/>
                </a:moveTo>
                <a:lnTo>
                  <a:pt x="4172487" y="0"/>
                </a:lnTo>
                <a:lnTo>
                  <a:pt x="4172487" y="7475139"/>
                </a:lnTo>
                <a:lnTo>
                  <a:pt x="0" y="7475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rot="-5400000">
            <a:off x="16270938" y="474532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7026105" y="4311534"/>
            <a:ext cx="8065991" cy="35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endParaRPr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Crece la demanda de equipos/componentes de PC adaptados a perfiles (</a:t>
            </a:r>
            <a:r>
              <a:rPr lang="es-MX" sz="2000" dirty="0" err="1"/>
              <a:t>gamer</a:t>
            </a:r>
            <a:r>
              <a:rPr lang="es-MX" sz="2000" dirty="0"/>
              <a:t>, estudio, trabajo/diseño, hogar).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Usuarios no expertos se enfrentan a </a:t>
            </a:r>
            <a:r>
              <a:rPr lang="es-MX" sz="2000" dirty="0" err="1"/>
              <a:t>a</a:t>
            </a:r>
            <a:r>
              <a:rPr lang="es-MX" sz="2000" dirty="0"/>
              <a:t> exceso de información técnica y opciones muy similares entre sí.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La oferta está, pero falta una guía que traduzca necesidades reales (jugar X, editar video, estudiar) a configuraciones compatibles y razonables en costo.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28812" y="-187195"/>
            <a:ext cx="8686223" cy="10661390"/>
            <a:chOff x="0" y="0"/>
            <a:chExt cx="2287729" cy="2807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7730" cy="2807938"/>
            </a:xfrm>
            <a:custGeom>
              <a:avLst/>
              <a:gdLst/>
              <a:ahLst/>
              <a:cxnLst/>
              <a:rect l="l" t="t" r="r" b="b"/>
              <a:pathLst>
                <a:path w="2287730" h="2807938">
                  <a:moveTo>
                    <a:pt x="0" y="0"/>
                  </a:moveTo>
                  <a:lnTo>
                    <a:pt x="2287730" y="0"/>
                  </a:lnTo>
                  <a:lnTo>
                    <a:pt x="2287730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DC786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7729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42495" y="3785324"/>
            <a:ext cx="7201505" cy="117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5"/>
              </a:lnSpc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Problema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2495" y="5585681"/>
            <a:ext cx="7201505" cy="272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Usuarios sin conocimientos técnicos no tienen seguridad para elegir componentes adecuados a su uso.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La información está fragmentada en tiendas, foros y comparadores, sin un criterio único ni lenguaje simple.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Esto aumenta el riesgo de comprar componentes incompatibles o que rinden muy por debajo de lo esperado.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2" name="Freeform 12"/>
          <p:cNvSpPr/>
          <p:nvPr/>
        </p:nvSpPr>
        <p:spPr>
          <a:xfrm rot="-10800000">
            <a:off x="8164054" y="-2151423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1277600" y="2810654"/>
            <a:ext cx="5849505" cy="5881586"/>
          </a:xfrm>
          <a:custGeom>
            <a:avLst/>
            <a:gdLst/>
            <a:ahLst/>
            <a:cxnLst/>
            <a:rect l="l" t="t" r="r" b="b"/>
            <a:pathLst>
              <a:path w="5849505" h="5881586">
                <a:moveTo>
                  <a:pt x="0" y="0"/>
                </a:moveTo>
                <a:lnTo>
                  <a:pt x="5849505" y="0"/>
                </a:lnTo>
                <a:lnTo>
                  <a:pt x="5849505" y="5881586"/>
                </a:lnTo>
                <a:lnTo>
                  <a:pt x="0" y="5881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0650" y="2495256"/>
            <a:ext cx="12150907" cy="129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9"/>
              </a:lnSpc>
            </a:pPr>
            <a:r>
              <a:rPr lang="en-US" sz="10159" dirty="0" err="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Solución</a:t>
            </a:r>
            <a:endParaRPr lang="en-US" sz="10159" dirty="0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6291" y="5056409"/>
            <a:ext cx="4539301" cy="1336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Plataforma web de recomendación de equipos y componentes de PC, centrada en el uso real y el presupuesto del usuario.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61840" y="5018710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01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106400" y="2812031"/>
            <a:ext cx="4025429" cy="1297487"/>
          </a:xfrm>
          <a:custGeom>
            <a:avLst/>
            <a:gdLst/>
            <a:ahLst/>
            <a:cxnLst/>
            <a:rect l="l" t="t" r="r" b="b"/>
            <a:pathLst>
              <a:path w="6389404" h="2125929">
                <a:moveTo>
                  <a:pt x="0" y="0"/>
                </a:moveTo>
                <a:lnTo>
                  <a:pt x="6389404" y="0"/>
                </a:lnTo>
                <a:lnTo>
                  <a:pt x="6389404" y="2125929"/>
                </a:lnTo>
                <a:lnTo>
                  <a:pt x="0" y="21259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2663561" y="6776690"/>
            <a:ext cx="6160399" cy="1337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5104" lvl="1" algn="l">
              <a:lnSpc>
                <a:spcPct val="150000"/>
              </a:lnSpc>
            </a:pPr>
            <a:r>
              <a:rPr lang="es-MX" sz="2000" dirty="0">
                <a:solidFill>
                  <a:srgbClr val="000000"/>
                </a:solidFill>
                <a:ea typeface="Touvlo"/>
                <a:cs typeface="Touvlo"/>
                <a:sym typeface="Touvlo"/>
              </a:rPr>
              <a:t>Perfiles de uso claros (</a:t>
            </a:r>
            <a:r>
              <a:rPr lang="es-MX" sz="2000" dirty="0" err="1">
                <a:solidFill>
                  <a:srgbClr val="000000"/>
                </a:solidFill>
                <a:ea typeface="Touvlo"/>
                <a:cs typeface="Touvlo"/>
                <a:sym typeface="Touvlo"/>
              </a:rPr>
              <a:t>gamer</a:t>
            </a:r>
            <a:r>
              <a:rPr lang="es-MX" sz="2000" dirty="0">
                <a:solidFill>
                  <a:srgbClr val="000000"/>
                </a:solidFill>
                <a:ea typeface="Touvlo"/>
                <a:cs typeface="Touvlo"/>
                <a:sym typeface="Touvlo"/>
              </a:rPr>
              <a:t>, estudio, trabajo/diseño, hogar) y filtros simples, en vez de obligar a entender todas las especificaciones.</a:t>
            </a:r>
            <a:endParaRPr lang="en-US" sz="1899" dirty="0">
              <a:solidFill>
                <a:srgbClr val="000000"/>
              </a:solidFill>
              <a:ea typeface="Touvlo"/>
              <a:cs typeface="Touvlo"/>
              <a:sym typeface="Touvl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10015" y="6780611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02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1452522" y="-1543658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 rot="-5400000">
            <a:off x="15514664" y="6703723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0901929" y="4969881"/>
            <a:ext cx="5108087" cy="170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Motor de recomendaciones que combina compatibilidad, rendimiento y presupuesto, mostrando motivos de cada sugerencia.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  <a:p>
            <a:pPr algn="l">
              <a:lnSpc>
                <a:spcPts val="2659"/>
              </a:lnSpc>
            </a:pP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161721" y="4939175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03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7C5C7036-4ED6-FCED-D1ED-75E491F406A3}"/>
              </a:ext>
            </a:extLst>
          </p:cNvPr>
          <p:cNvSpPr txBox="1"/>
          <p:nvPr/>
        </p:nvSpPr>
        <p:spPr>
          <a:xfrm>
            <a:off x="10886689" y="6733617"/>
            <a:ext cx="5108087" cy="133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Panel de administración para mantener el catálogo, moderar reportes y revisar métricas (vistas, clics, fichas incompletas).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E304BA8C-A8E4-550A-BFD8-9B41F651D533}"/>
              </a:ext>
            </a:extLst>
          </p:cNvPr>
          <p:cNvSpPr txBox="1"/>
          <p:nvPr/>
        </p:nvSpPr>
        <p:spPr>
          <a:xfrm>
            <a:off x="10146481" y="6702911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4390" y="4059564"/>
            <a:ext cx="9131652" cy="117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Objetivo general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28812" y="-187195"/>
            <a:ext cx="8686223" cy="10661390"/>
            <a:chOff x="0" y="0"/>
            <a:chExt cx="2287729" cy="28079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7730" cy="2807938"/>
            </a:xfrm>
            <a:custGeom>
              <a:avLst/>
              <a:gdLst/>
              <a:ahLst/>
              <a:cxnLst/>
              <a:rect l="l" t="t" r="r" b="b"/>
              <a:pathLst>
                <a:path w="2287730" h="2807938">
                  <a:moveTo>
                    <a:pt x="0" y="0"/>
                  </a:moveTo>
                  <a:lnTo>
                    <a:pt x="2287730" y="0"/>
                  </a:lnTo>
                  <a:lnTo>
                    <a:pt x="2287730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DC78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7729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3989" y="6008361"/>
            <a:ext cx="8065991" cy="1705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Desarrollar una plataforma web que recomiende equipos, componentes y servicios de PC según las necesidades y el presupuesto de distintos perfiles de usuario, mejorando la búsqueda, la compatibilidad y la experiencia de selección.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2180073" y="2323700"/>
            <a:ext cx="4502502" cy="5826767"/>
          </a:xfrm>
          <a:custGeom>
            <a:avLst/>
            <a:gdLst/>
            <a:ahLst/>
            <a:cxnLst/>
            <a:rect l="l" t="t" r="r" b="b"/>
            <a:pathLst>
              <a:path w="4502502" h="5826767">
                <a:moveTo>
                  <a:pt x="0" y="0"/>
                </a:moveTo>
                <a:lnTo>
                  <a:pt x="4502501" y="0"/>
                </a:lnTo>
                <a:lnTo>
                  <a:pt x="4502501" y="5826767"/>
                </a:lnTo>
                <a:lnTo>
                  <a:pt x="0" y="5826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 rot="5400000">
            <a:off x="11012544" y="7093305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7" y="0"/>
                </a:lnTo>
                <a:lnTo>
                  <a:pt x="1231677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 rot="5400000">
            <a:off x="964016" y="-738631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2"/>
                </a:lnTo>
                <a:lnTo>
                  <a:pt x="0" y="61246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2263" y="-187195"/>
            <a:ext cx="8686223" cy="10661390"/>
            <a:chOff x="0" y="0"/>
            <a:chExt cx="2287729" cy="2807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7730" cy="2807938"/>
            </a:xfrm>
            <a:custGeom>
              <a:avLst/>
              <a:gdLst/>
              <a:ahLst/>
              <a:cxnLst/>
              <a:rect l="l" t="t" r="r" b="b"/>
              <a:pathLst>
                <a:path w="2287730" h="2807938">
                  <a:moveTo>
                    <a:pt x="0" y="0"/>
                  </a:moveTo>
                  <a:lnTo>
                    <a:pt x="2287730" y="0"/>
                  </a:lnTo>
                  <a:lnTo>
                    <a:pt x="2287730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EECAC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7729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856291" y="2166661"/>
            <a:ext cx="3906848" cy="7091639"/>
          </a:xfrm>
          <a:custGeom>
            <a:avLst/>
            <a:gdLst/>
            <a:ahLst/>
            <a:cxnLst/>
            <a:rect l="l" t="t" r="r" b="b"/>
            <a:pathLst>
              <a:path w="3906848" h="7091639">
                <a:moveTo>
                  <a:pt x="0" y="0"/>
                </a:moveTo>
                <a:lnTo>
                  <a:pt x="3906848" y="0"/>
                </a:lnTo>
                <a:lnTo>
                  <a:pt x="3906848" y="7091639"/>
                </a:lnTo>
                <a:lnTo>
                  <a:pt x="0" y="7091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8524893" y="2814226"/>
            <a:ext cx="8734407" cy="230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Objetivos específicos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08144" y="5494859"/>
            <a:ext cx="805115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2000" dirty="0"/>
              <a:t>Implementar gestión de usuarios y roles (registro/</a:t>
            </a:r>
            <a:r>
              <a:rPr lang="es-MX" sz="2000" dirty="0" err="1"/>
              <a:t>login</a:t>
            </a:r>
            <a:r>
              <a:rPr lang="es-MX" sz="2000" dirty="0"/>
              <a:t>, perfil, preferencias).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44227" y="5418806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01</a:t>
            </a:r>
          </a:p>
        </p:txBody>
      </p:sp>
      <p:sp>
        <p:nvSpPr>
          <p:cNvPr id="14" name="Freeform 14"/>
          <p:cNvSpPr/>
          <p:nvPr/>
        </p:nvSpPr>
        <p:spPr>
          <a:xfrm>
            <a:off x="865166" y="6689057"/>
            <a:ext cx="1077329" cy="4114800"/>
          </a:xfrm>
          <a:custGeom>
            <a:avLst/>
            <a:gdLst/>
            <a:ahLst/>
            <a:cxnLst/>
            <a:rect l="l" t="t" r="r" b="b"/>
            <a:pathLst>
              <a:path w="1077329" h="4114800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 rot="-10800000">
            <a:off x="9227478" y="-3591971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5" y="0"/>
                </a:lnTo>
                <a:lnTo>
                  <a:pt x="979945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9213478" y="6055086"/>
            <a:ext cx="793152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2000" dirty="0"/>
              <a:t>Construir y mantener una base de datos de productos con especificaciones claras y actualizadas.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23756" y="6124434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27478" y="6804901"/>
            <a:ext cx="791752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2000" dirty="0"/>
              <a:t>Desarrollar un motor de recomendaciones basado en compatibilidad, rendimiento y presupuesto, con explicaciones legibles.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24893" y="6843471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42718" y="7593241"/>
            <a:ext cx="791752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2000" dirty="0"/>
              <a:t>Diseñar interfaces accesibles y fáciles de usar, con modo claro/oscuro y buen contraste.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24893" y="7614930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42718" y="8317928"/>
            <a:ext cx="791752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2000" dirty="0"/>
              <a:t>Integrar módulos de administración (catálogo, reportes, métricas) y, si aplica, visibilidad para </a:t>
            </a:r>
            <a:r>
              <a:rPr lang="es-MX" sz="2000" dirty="0" err="1"/>
              <a:t>ecommerce</a:t>
            </a:r>
            <a:r>
              <a:rPr lang="es-MX" sz="2000" dirty="0"/>
              <a:t> vía referencias.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23756" y="8380279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08144" y="9042616"/>
            <a:ext cx="8051156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dirty="0"/>
              <a:t>Validar el sistema con pruebas unitarias, integrales y recorridos reales de usuarios de prueba.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23756" y="9042616"/>
            <a:ext cx="568786" cy="48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2603441" y="-1026280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519221" y="2159485"/>
            <a:ext cx="13249558" cy="117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Metodología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8" name="Freeform 8"/>
          <p:cNvSpPr/>
          <p:nvPr/>
        </p:nvSpPr>
        <p:spPr>
          <a:xfrm>
            <a:off x="15526171" y="5952808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219280" y="4942965"/>
            <a:ext cx="5108087" cy="126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Uso de metodología ágil: trabajo iterativo e incremental, con entregas parciales en cada sprint.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35120" y="4267767"/>
            <a:ext cx="3559597" cy="4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862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Metodología</a:t>
            </a: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2862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ágil</a:t>
            </a:r>
            <a:endParaRPr lang="en-US" sz="2862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219280" y="7144730"/>
            <a:ext cx="5108087" cy="295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ct val="150000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Levantamiento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y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análisis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de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requerimientos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Diseño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de la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solución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</a:pP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Desarrollo de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módulos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Pruebas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e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integración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Documentación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y </a:t>
            </a:r>
            <a:r>
              <a:rPr lang="en-US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cierre</a:t>
            </a:r>
            <a:r>
              <a:rPr lang="en-US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algn="l">
              <a:lnSpc>
                <a:spcPts val="2659"/>
              </a:lnSpc>
            </a:pP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93525" y="6464961"/>
            <a:ext cx="3559597" cy="4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862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Etapas</a:t>
            </a: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7793" y="4942965"/>
            <a:ext cx="5108087" cy="126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Reuniones de coordinación semanales para revisar avances, </a:t>
            </a:r>
            <a:r>
              <a:rPr lang="es-MX" sz="1899" dirty="0" err="1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re‑priorizar</a:t>
            </a:r>
            <a:r>
              <a:rPr lang="es-MX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 y corregir el rumbo si es necesario.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61198" y="4267767"/>
            <a:ext cx="2501142" cy="4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Organización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07793" y="7144730"/>
            <a:ext cx="5108087" cy="126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1899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Ambos integrantes participan en todas las fases, con revisión cruzada de código y documentación para asegurar calidad.</a:t>
            </a:r>
            <a:endParaRPr lang="en-US" sz="1899" dirty="0">
              <a:solidFill>
                <a:srgbClr val="000000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861198" y="6464961"/>
            <a:ext cx="2996228" cy="48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862" dirty="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Roles: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24A9-D52D-2D16-3C67-15114AB3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A892A8-BD84-18DA-50A2-BBDC32A53979}"/>
              </a:ext>
            </a:extLst>
          </p:cNvPr>
          <p:cNvGrpSpPr/>
          <p:nvPr/>
        </p:nvGrpSpPr>
        <p:grpSpPr>
          <a:xfrm>
            <a:off x="-609600" y="-800100"/>
            <a:ext cx="19775564" cy="11409761"/>
            <a:chOff x="0" y="0"/>
            <a:chExt cx="5007688" cy="28079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ACE6B9-A5AF-D8A3-D845-EF831C7AB826}"/>
                </a:ext>
              </a:extLst>
            </p:cNvPr>
            <p:cNvSpPr/>
            <p:nvPr/>
          </p:nvSpPr>
          <p:spPr>
            <a:xfrm>
              <a:off x="0" y="0"/>
              <a:ext cx="5007688" cy="2807938"/>
            </a:xfrm>
            <a:custGeom>
              <a:avLst/>
              <a:gdLst/>
              <a:ahLst/>
              <a:cxnLst/>
              <a:rect l="l" t="t" r="r" b="b"/>
              <a:pathLst>
                <a:path w="5007688" h="2807938">
                  <a:moveTo>
                    <a:pt x="0" y="0"/>
                  </a:moveTo>
                  <a:lnTo>
                    <a:pt x="5007688" y="0"/>
                  </a:lnTo>
                  <a:lnTo>
                    <a:pt x="500768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DC78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E6CB77-7BA2-B441-C9B1-8F50882713E6}"/>
                </a:ext>
              </a:extLst>
            </p:cNvPr>
            <p:cNvSpPr txBox="1"/>
            <p:nvPr/>
          </p:nvSpPr>
          <p:spPr>
            <a:xfrm>
              <a:off x="0" y="-38100"/>
              <a:ext cx="5007688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5195702-7EA5-879A-9F56-82D655FFCFED}"/>
              </a:ext>
            </a:extLst>
          </p:cNvPr>
          <p:cNvSpPr txBox="1"/>
          <p:nvPr/>
        </p:nvSpPr>
        <p:spPr>
          <a:xfrm>
            <a:off x="5587595" y="812682"/>
            <a:ext cx="8772609" cy="1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905"/>
              </a:lnSpc>
              <a:spcBef>
                <a:spcPct val="0"/>
              </a:spcBef>
            </a:pPr>
            <a:r>
              <a:rPr lang="en-US" sz="8646" dirty="0" err="1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Cronograma</a:t>
            </a:r>
            <a:endParaRPr lang="en-US" sz="8646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1DA4C6-E470-72A5-B677-53EA47E20F8E}"/>
              </a:ext>
            </a:extLst>
          </p:cNvPr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581B23-9077-25B8-40E2-1F241F61E999}"/>
              </a:ext>
            </a:extLst>
          </p:cNvPr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597314-996D-B782-C60C-1C5C071EC994}"/>
              </a:ext>
            </a:extLst>
          </p:cNvPr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EA3BE70-AE54-253A-F05A-53A64A1FF273}"/>
              </a:ext>
            </a:extLst>
          </p:cNvPr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586BB5-38C4-A919-7C71-9ADBD786AF63}"/>
              </a:ext>
            </a:extLst>
          </p:cNvPr>
          <p:cNvSpPr txBox="1"/>
          <p:nvPr/>
        </p:nvSpPr>
        <p:spPr>
          <a:xfrm>
            <a:off x="16130503" y="9378792"/>
            <a:ext cx="1465866" cy="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09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CA2651D-BF85-B6FE-CDFE-D05A13350BC2}"/>
              </a:ext>
            </a:extLst>
          </p:cNvPr>
          <p:cNvSpPr/>
          <p:nvPr/>
        </p:nvSpPr>
        <p:spPr>
          <a:xfrm>
            <a:off x="380255" y="5507014"/>
            <a:ext cx="3018700" cy="4450715"/>
          </a:xfrm>
          <a:custGeom>
            <a:avLst/>
            <a:gdLst/>
            <a:ahLst/>
            <a:cxnLst/>
            <a:rect l="l" t="t" r="r" b="b"/>
            <a:pathLst>
              <a:path w="5038000" h="6143903">
                <a:moveTo>
                  <a:pt x="0" y="0"/>
                </a:moveTo>
                <a:lnTo>
                  <a:pt x="5038001" y="0"/>
                </a:lnTo>
                <a:lnTo>
                  <a:pt x="5038001" y="6143903"/>
                </a:lnTo>
                <a:lnTo>
                  <a:pt x="0" y="614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E888C67-1C92-B90F-37DD-635273D7A00C}"/>
              </a:ext>
            </a:extLst>
          </p:cNvPr>
          <p:cNvSpPr/>
          <p:nvPr/>
        </p:nvSpPr>
        <p:spPr>
          <a:xfrm rot="10800000">
            <a:off x="17091507" y="-528536"/>
            <a:ext cx="1231678" cy="4704324"/>
          </a:xfrm>
          <a:custGeom>
            <a:avLst/>
            <a:gdLst/>
            <a:ahLst/>
            <a:cxnLst/>
            <a:rect l="l" t="t" r="r" b="b"/>
            <a:pathLst>
              <a:path w="1231678" h="4704324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91146FA-43F7-A512-2483-B42789E85D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2772" y="2892098"/>
            <a:ext cx="3693773" cy="33591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DAB8F9A-94EB-6F5D-9203-93394EA9CC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1405" y="2848086"/>
            <a:ext cx="3572795" cy="3498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B05AD94-E659-6963-2909-D9515FBB01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80257" y="2899718"/>
            <a:ext cx="3684435" cy="3492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8E8E4AE-5132-1A0F-3D8D-59C39D3824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41" y="6877259"/>
            <a:ext cx="3407369" cy="33591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B1211C2-E85C-C73A-78D3-7F0E5FBAF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1956" y="6851984"/>
            <a:ext cx="3708549" cy="33732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2184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B93C-F8B1-F68E-3852-194E8984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">
            <a:extLst>
              <a:ext uri="{FF2B5EF4-FFF2-40B4-BE49-F238E27FC236}">
                <a16:creationId xmlns:a16="http://schemas.microsoft.com/office/drawing/2014/main" id="{98573877-122E-9ADE-35D0-CA45C0454B0C}"/>
              </a:ext>
            </a:extLst>
          </p:cNvPr>
          <p:cNvGrpSpPr/>
          <p:nvPr/>
        </p:nvGrpSpPr>
        <p:grpSpPr>
          <a:xfrm>
            <a:off x="-655384" y="-187195"/>
            <a:ext cx="19629184" cy="10661390"/>
            <a:chOff x="0" y="0"/>
            <a:chExt cx="2719594" cy="2807938"/>
          </a:xfrm>
        </p:grpSpPr>
        <p:sp>
          <p:nvSpPr>
            <p:cNvPr id="57" name="Freeform 6">
              <a:extLst>
                <a:ext uri="{FF2B5EF4-FFF2-40B4-BE49-F238E27FC236}">
                  <a16:creationId xmlns:a16="http://schemas.microsoft.com/office/drawing/2014/main" id="{202F6AD3-4ED5-B63C-FD48-B90EE5E25A10}"/>
                </a:ext>
              </a:extLst>
            </p:cNvPr>
            <p:cNvSpPr/>
            <p:nvPr/>
          </p:nvSpPr>
          <p:spPr>
            <a:xfrm>
              <a:off x="0" y="0"/>
              <a:ext cx="2719593" cy="2807938"/>
            </a:xfrm>
            <a:custGeom>
              <a:avLst/>
              <a:gdLst/>
              <a:ahLst/>
              <a:cxnLst/>
              <a:rect l="l" t="t" r="r" b="b"/>
              <a:pathLst>
                <a:path w="2719593" h="2807938">
                  <a:moveTo>
                    <a:pt x="0" y="0"/>
                  </a:moveTo>
                  <a:lnTo>
                    <a:pt x="2719593" y="0"/>
                  </a:lnTo>
                  <a:lnTo>
                    <a:pt x="2719593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EECA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7">
              <a:extLst>
                <a:ext uri="{FF2B5EF4-FFF2-40B4-BE49-F238E27FC236}">
                  <a16:creationId xmlns:a16="http://schemas.microsoft.com/office/drawing/2014/main" id="{4F65F63C-3F80-8042-1AEE-6878D0B2B0BC}"/>
                </a:ext>
              </a:extLst>
            </p:cNvPr>
            <p:cNvSpPr txBox="1"/>
            <p:nvPr/>
          </p:nvSpPr>
          <p:spPr>
            <a:xfrm>
              <a:off x="0" y="-38100"/>
              <a:ext cx="2719594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extBox 2">
            <a:extLst>
              <a:ext uri="{FF2B5EF4-FFF2-40B4-BE49-F238E27FC236}">
                <a16:creationId xmlns:a16="http://schemas.microsoft.com/office/drawing/2014/main" id="{63E75DAC-F918-A338-8159-91B8B3CCB279}"/>
              </a:ext>
            </a:extLst>
          </p:cNvPr>
          <p:cNvSpPr txBox="1"/>
          <p:nvPr/>
        </p:nvSpPr>
        <p:spPr>
          <a:xfrm>
            <a:off x="1371600" y="1562100"/>
            <a:ext cx="9131652" cy="117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05"/>
              </a:lnSpc>
              <a:spcBef>
                <a:spcPct val="0"/>
              </a:spcBef>
            </a:pPr>
            <a:r>
              <a:rPr lang="en-US" sz="8646" dirty="0" err="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Arquitectura</a:t>
            </a:r>
            <a:endParaRPr lang="en-US" sz="8646" dirty="0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F0FA0E-C241-454D-70DC-4474DF017A62}"/>
              </a:ext>
            </a:extLst>
          </p:cNvPr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DE1FCAF-88CB-71CE-CFEC-AAD11D4CBF6A}"/>
              </a:ext>
            </a:extLst>
          </p:cNvPr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297DA8-28F6-FF65-E533-998A23035BCC}"/>
              </a:ext>
            </a:extLst>
          </p:cNvPr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5F628D-F5FC-3AE4-0753-B27FB05CBB29}"/>
              </a:ext>
            </a:extLst>
          </p:cNvPr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pic>
        <p:nvPicPr>
          <p:cNvPr id="51" name="Imagen 50" descr="Diagrama&#10;&#10;El contenido generado por IA puede ser incorrecto.">
            <a:extLst>
              <a:ext uri="{FF2B5EF4-FFF2-40B4-BE49-F238E27FC236}">
                <a16:creationId xmlns:a16="http://schemas.microsoft.com/office/drawing/2014/main" id="{A766CE15-3104-BA6C-DC85-34E287FDF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256200"/>
            <a:ext cx="5867400" cy="17876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3" name="Imagen 52" descr="Diagrama&#10;&#10;El contenido generado por IA puede ser incorrecto.">
            <a:extLst>
              <a:ext uri="{FF2B5EF4-FFF2-40B4-BE49-F238E27FC236}">
                <a16:creationId xmlns:a16="http://schemas.microsoft.com/office/drawing/2014/main" id="{4D083A17-E438-2AF7-C5EC-DE5A69216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091" y="5560717"/>
            <a:ext cx="3246909" cy="3994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5" name="Imagen 54" descr="Diagrama&#10;&#10;El contenido generado por IA puede ser incorrecto.">
            <a:extLst>
              <a:ext uri="{FF2B5EF4-FFF2-40B4-BE49-F238E27FC236}">
                <a16:creationId xmlns:a16="http://schemas.microsoft.com/office/drawing/2014/main" id="{D9C841B9-9599-005B-C01F-2DDAE8DDA3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38" y="2739372"/>
            <a:ext cx="6955462" cy="6438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9" name="CuadroTexto 58">
            <a:extLst>
              <a:ext uri="{FF2B5EF4-FFF2-40B4-BE49-F238E27FC236}">
                <a16:creationId xmlns:a16="http://schemas.microsoft.com/office/drawing/2014/main" id="{03941BD5-950C-34AB-4304-4BDBFBAFDAA0}"/>
              </a:ext>
            </a:extLst>
          </p:cNvPr>
          <p:cNvSpPr txBox="1"/>
          <p:nvPr/>
        </p:nvSpPr>
        <p:spPr>
          <a:xfrm>
            <a:off x="1371600" y="51435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Diagrama de componentes</a:t>
            </a:r>
            <a:endParaRPr lang="es-C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5A17284-EF6A-8BC9-105D-92A7C54123E6}"/>
              </a:ext>
            </a:extLst>
          </p:cNvPr>
          <p:cNvSpPr txBox="1"/>
          <p:nvPr/>
        </p:nvSpPr>
        <p:spPr>
          <a:xfrm>
            <a:off x="4373091" y="9566037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Diagrama de despliegue</a:t>
            </a:r>
            <a:endParaRPr lang="es-C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B2FCB68-5957-8FD3-EFC8-87E6D6A7888D}"/>
              </a:ext>
            </a:extLst>
          </p:cNvPr>
          <p:cNvSpPr txBox="1"/>
          <p:nvPr/>
        </p:nvSpPr>
        <p:spPr>
          <a:xfrm>
            <a:off x="10325102" y="927253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Diagrama de clases</a:t>
            </a:r>
            <a:endParaRPr lang="es-C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0936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065079" y="447057"/>
            <a:ext cx="3187100" cy="4114800"/>
          </a:xfrm>
          <a:custGeom>
            <a:avLst/>
            <a:gdLst/>
            <a:ahLst/>
            <a:cxnLst/>
            <a:rect l="l" t="t" r="r" b="b"/>
            <a:pathLst>
              <a:path w="3187100" h="4114800">
                <a:moveTo>
                  <a:pt x="0" y="0"/>
                </a:moveTo>
                <a:lnTo>
                  <a:pt x="3187100" y="0"/>
                </a:lnTo>
                <a:lnTo>
                  <a:pt x="31871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5151872" y="6729774"/>
            <a:ext cx="2715693" cy="2715693"/>
          </a:xfrm>
          <a:custGeom>
            <a:avLst/>
            <a:gdLst/>
            <a:ahLst/>
            <a:cxnLst/>
            <a:rect l="l" t="t" r="r" b="b"/>
            <a:pathLst>
              <a:path w="2715693" h="2715693">
                <a:moveTo>
                  <a:pt x="0" y="0"/>
                </a:moveTo>
                <a:lnTo>
                  <a:pt x="2715693" y="0"/>
                </a:lnTo>
                <a:lnTo>
                  <a:pt x="2715693" y="2715693"/>
                </a:lnTo>
                <a:lnTo>
                  <a:pt x="0" y="2715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9879916" y="5586798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-655384" y="-187195"/>
            <a:ext cx="9260193" cy="10661390"/>
            <a:chOff x="0" y="0"/>
            <a:chExt cx="2719594" cy="28079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19593" cy="2807938"/>
            </a:xfrm>
            <a:custGeom>
              <a:avLst/>
              <a:gdLst/>
              <a:ahLst/>
              <a:cxnLst/>
              <a:rect l="l" t="t" r="r" b="b"/>
              <a:pathLst>
                <a:path w="2719593" h="2807938">
                  <a:moveTo>
                    <a:pt x="0" y="0"/>
                  </a:moveTo>
                  <a:lnTo>
                    <a:pt x="2719593" y="0"/>
                  </a:lnTo>
                  <a:lnTo>
                    <a:pt x="2719593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EECA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19594" cy="2846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5507" y="1457511"/>
            <a:ext cx="8692501" cy="231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9379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Stack </a:t>
            </a:r>
            <a:r>
              <a:rPr lang="en-US" sz="9379" dirty="0" err="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tecnológico</a:t>
            </a:r>
            <a:endParaRPr lang="en-US" sz="9379" dirty="0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0503" y="9378792"/>
            <a:ext cx="1465866" cy="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95698" y="7687668"/>
            <a:ext cx="4518097" cy="150374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Frontend:</a:t>
            </a:r>
          </a:p>
          <a:p>
            <a:pPr marL="0" lvl="0" indent="0" algn="ctr">
              <a:lnSpc>
                <a:spcPts val="4007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Django Templates + CSS +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Boostrap</a:t>
            </a:r>
            <a:endParaRPr lang="en-US" sz="2000" dirty="0">
              <a:solidFill>
                <a:srgbClr val="000000"/>
              </a:solidFill>
              <a:highlight>
                <a:srgbClr val="94D4C4"/>
              </a:highlight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86772" y="585402"/>
            <a:ext cx="4724400" cy="13346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Backend: Django (Python),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Modelo MVT, ORM para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accesos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datos</a:t>
            </a:r>
            <a:endParaRPr lang="en-US" sz="2000" dirty="0">
              <a:solidFill>
                <a:srgbClr val="000000"/>
              </a:solidFill>
              <a:highlight>
                <a:srgbClr val="94D4C4"/>
              </a:highlight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5238904" y="1236516"/>
            <a:ext cx="2594366" cy="3463353"/>
          </a:xfrm>
          <a:custGeom>
            <a:avLst/>
            <a:gdLst/>
            <a:ahLst/>
            <a:cxnLst/>
            <a:rect l="l" t="t" r="r" b="b"/>
            <a:pathLst>
              <a:path w="2594366" h="3463353">
                <a:moveTo>
                  <a:pt x="0" y="0"/>
                </a:moveTo>
                <a:lnTo>
                  <a:pt x="2594366" y="0"/>
                </a:lnTo>
                <a:lnTo>
                  <a:pt x="2594366" y="3463353"/>
                </a:lnTo>
                <a:lnTo>
                  <a:pt x="0" y="34633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13955034" y="4064193"/>
            <a:ext cx="2715693" cy="9907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Base de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datos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:</a:t>
            </a:r>
          </a:p>
          <a:p>
            <a:pPr marL="0" lvl="0" indent="0" algn="ctr">
              <a:lnSpc>
                <a:spcPts val="4007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SQLite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1985307" y="5377211"/>
            <a:ext cx="979946" cy="6124661"/>
          </a:xfrm>
          <a:custGeom>
            <a:avLst/>
            <a:gdLst/>
            <a:ahLst/>
            <a:cxnLst/>
            <a:rect l="l" t="t" r="r" b="b"/>
            <a:pathLst>
              <a:path w="979946" h="6124661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2688902" y="5836449"/>
            <a:ext cx="4174534" cy="1475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07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Control de versions y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colaboración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: Git/GitHub, con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ramas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 y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trabajo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iterativo</a:t>
            </a:r>
            <a:endParaRPr lang="en-US" sz="2000" dirty="0">
              <a:solidFill>
                <a:srgbClr val="000000"/>
              </a:solidFill>
              <a:highlight>
                <a:srgbClr val="94D4C4"/>
              </a:highlight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81895" y="299163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52093" y="299163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2291" y="299163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A01421DD-2CEA-C67C-9A97-E70DA7C85228}"/>
              </a:ext>
            </a:extLst>
          </p:cNvPr>
          <p:cNvSpPr/>
          <p:nvPr/>
        </p:nvSpPr>
        <p:spPr>
          <a:xfrm>
            <a:off x="6838289" y="3830321"/>
            <a:ext cx="4025429" cy="1297487"/>
          </a:xfrm>
          <a:custGeom>
            <a:avLst/>
            <a:gdLst/>
            <a:ahLst/>
            <a:cxnLst/>
            <a:rect l="l" t="t" r="r" b="b"/>
            <a:pathLst>
              <a:path w="6389404" h="2125929">
                <a:moveTo>
                  <a:pt x="0" y="0"/>
                </a:moveTo>
                <a:lnTo>
                  <a:pt x="6389404" y="0"/>
                </a:lnTo>
                <a:lnTo>
                  <a:pt x="6389404" y="2125929"/>
                </a:lnTo>
                <a:lnTo>
                  <a:pt x="0" y="2125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A703E104-58BB-D245-C522-F99252A0B447}"/>
              </a:ext>
            </a:extLst>
          </p:cNvPr>
          <p:cNvSpPr txBox="1"/>
          <p:nvPr/>
        </p:nvSpPr>
        <p:spPr>
          <a:xfrm>
            <a:off x="4431847" y="4607958"/>
            <a:ext cx="3864525" cy="20017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7"/>
              </a:lnSpc>
            </a:pP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Herramientas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apoyo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:</a:t>
            </a:r>
            <a:b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</a:b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Trello para la gestion; extensions del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navegador</a:t>
            </a:r>
            <a:r>
              <a:rPr lang="en-US" sz="2000" dirty="0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 para UX y </a:t>
            </a:r>
            <a:r>
              <a:rPr lang="en-US" sz="2000" dirty="0" err="1">
                <a:solidFill>
                  <a:srgbClr val="000000"/>
                </a:solidFill>
                <a:highlight>
                  <a:srgbClr val="94D4C4"/>
                </a:highlight>
                <a:latin typeface="Touvlo"/>
                <a:ea typeface="Touvlo"/>
                <a:cs typeface="Touvlo"/>
                <a:sym typeface="Touvlo"/>
              </a:rPr>
              <a:t>contraste</a:t>
            </a:r>
            <a:endParaRPr lang="en-US" sz="2000" dirty="0">
              <a:solidFill>
                <a:srgbClr val="000000"/>
              </a:solidFill>
              <a:highlight>
                <a:srgbClr val="94D4C4"/>
              </a:highlight>
              <a:latin typeface="Touvlo"/>
              <a:ea typeface="Touvlo"/>
              <a:cs typeface="Touvlo"/>
              <a:sym typeface="Touvl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4326" y="3345931"/>
            <a:ext cx="20327088" cy="5505781"/>
            <a:chOff x="0" y="0"/>
            <a:chExt cx="5353636" cy="1450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3636" cy="1450082"/>
            </a:xfrm>
            <a:custGeom>
              <a:avLst/>
              <a:gdLst/>
              <a:ahLst/>
              <a:cxnLst/>
              <a:rect l="l" t="t" r="r" b="b"/>
              <a:pathLst>
                <a:path w="5353636" h="1450082">
                  <a:moveTo>
                    <a:pt x="0" y="0"/>
                  </a:moveTo>
                  <a:lnTo>
                    <a:pt x="5353636" y="0"/>
                  </a:lnTo>
                  <a:lnTo>
                    <a:pt x="5353636" y="1450082"/>
                  </a:lnTo>
                  <a:lnTo>
                    <a:pt x="0" y="1450082"/>
                  </a:lnTo>
                  <a:close/>
                </a:path>
              </a:pathLst>
            </a:custGeom>
            <a:solidFill>
              <a:srgbClr val="94D4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53636" cy="1488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0534073" y="3510457"/>
            <a:ext cx="986062" cy="3766209"/>
          </a:xfrm>
          <a:custGeom>
            <a:avLst/>
            <a:gdLst/>
            <a:ahLst/>
            <a:cxnLst/>
            <a:rect l="l" t="t" r="r" b="b"/>
            <a:pathLst>
              <a:path w="986062" h="3766209">
                <a:moveTo>
                  <a:pt x="0" y="0"/>
                </a:moveTo>
                <a:lnTo>
                  <a:pt x="986062" y="0"/>
                </a:lnTo>
                <a:lnTo>
                  <a:pt x="986062" y="3766209"/>
                </a:lnTo>
                <a:lnTo>
                  <a:pt x="0" y="3766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539821" y="2043385"/>
            <a:ext cx="6390652" cy="6449282"/>
          </a:xfrm>
          <a:custGeom>
            <a:avLst/>
            <a:gdLst/>
            <a:ahLst/>
            <a:cxnLst/>
            <a:rect l="l" t="t" r="r" b="b"/>
            <a:pathLst>
              <a:path w="6390652" h="6449282">
                <a:moveTo>
                  <a:pt x="0" y="0"/>
                </a:moveTo>
                <a:lnTo>
                  <a:pt x="6390651" y="0"/>
                </a:lnTo>
                <a:lnTo>
                  <a:pt x="6390651" y="6449282"/>
                </a:lnTo>
                <a:lnTo>
                  <a:pt x="0" y="6449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1628382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98581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Video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68779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About 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55015"/>
            <a:ext cx="182759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Thynk Unlimited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30503" y="9378792"/>
            <a:ext cx="1465866" cy="57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10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754409" y="5896602"/>
            <a:ext cx="1077329" cy="4114800"/>
          </a:xfrm>
          <a:custGeom>
            <a:avLst/>
            <a:gdLst/>
            <a:ahLst/>
            <a:cxnLst/>
            <a:rect l="l" t="t" r="r" b="b"/>
            <a:pathLst>
              <a:path w="1077329" h="4114800">
                <a:moveTo>
                  <a:pt x="0" y="0"/>
                </a:moveTo>
                <a:lnTo>
                  <a:pt x="1077330" y="0"/>
                </a:lnTo>
                <a:lnTo>
                  <a:pt x="10773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4123736" y="2505714"/>
            <a:ext cx="6908274" cy="5840632"/>
          </a:xfrm>
          <a:custGeom>
            <a:avLst/>
            <a:gdLst/>
            <a:ahLst/>
            <a:cxnLst/>
            <a:rect l="l" t="t" r="r" b="b"/>
            <a:pathLst>
              <a:path w="6908274" h="5840632">
                <a:moveTo>
                  <a:pt x="0" y="0"/>
                </a:moveTo>
                <a:lnTo>
                  <a:pt x="6908274" y="0"/>
                </a:lnTo>
                <a:lnTo>
                  <a:pt x="6908274" y="5840631"/>
                </a:lnTo>
                <a:lnTo>
                  <a:pt x="0" y="5840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4736435" y="4102889"/>
            <a:ext cx="5908610" cy="178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544"/>
              </a:lnSpc>
              <a:spcBef>
                <a:spcPct val="0"/>
              </a:spcBef>
            </a:pPr>
            <a:r>
              <a:rPr lang="en-US" sz="1314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1281</Words>
  <Application>Microsoft Office PowerPoint</Application>
  <PresentationFormat>Personalizado</PresentationFormat>
  <Paragraphs>134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Hammersmith One</vt:lpstr>
      <vt:lpstr>Aptos</vt:lpstr>
      <vt:lpstr>Arial</vt:lpstr>
      <vt:lpstr>Touvlo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Mint Illustrative Computer Presentation</dc:title>
  <cp:lastModifiedBy>CRISTIAN RAFAEL NUNEZ PARRA</cp:lastModifiedBy>
  <cp:revision>5</cp:revision>
  <dcterms:created xsi:type="dcterms:W3CDTF">2006-08-16T00:00:00Z</dcterms:created>
  <dcterms:modified xsi:type="dcterms:W3CDTF">2025-11-18T13:32:44Z</dcterms:modified>
  <dc:identifier>DAGyapMZ12E</dc:identifier>
</cp:coreProperties>
</file>