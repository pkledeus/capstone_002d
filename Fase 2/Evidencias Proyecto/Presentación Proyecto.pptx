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10287000" cx="18288000"/>
  <p:notesSz cx="6858000" cy="9144000"/>
  <p:embeddedFontLst>
    <p:embeddedFont>
      <p:font typeface="Hammersmith One"/>
      <p:regular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eD0THDzoaypW8nuiGH/tEbOEu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HammersmithOne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Aquí contamos que el proyecto nace porque hoy la gente depende del computador para casi todo, pero el momento de compra sigue siendo complejo. Las tiendas muestran fichas técnicas y marketing, pero no explican si “sirve para mí”. Personas que no dominan términos como “Socket, chipset, VRAM” tienen miedo a equivocarse. Además la información está repartida en muchas fuentes: reviews, foros, e‑commerce. Esa combinación genera confusión, pérdida de tiempo y, muchas veces, malas compras.</a:t>
            </a:r>
            <a:endParaRPr/>
          </a:p>
        </p:txBody>
      </p:sp>
      <p:sp>
        <p:nvSpPr>
          <p:cNvPr id="104" name="Google Shape;10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Aquí profundizamos: un usuario promedio no sabe si una fuente de poder es suficiente, si la placa soporta la RAM que quiere, o si la gráfica queda “desbalanceada” con el procesador. Al final se basa en recomendaciones sueltas (“me dijeron que esta marca era buena”) o en lo más barato/caro. El resultado puede ser un equipo que no corre bien los juegos, que no sirve para edición de video o que directamente no enciende por incompatibilidades. No hay un lugar que le muestre “esto es lo que necesitas y por qué”.</a:t>
            </a:r>
            <a:endParaRPr/>
          </a:p>
        </p:txBody>
      </p:sp>
      <p:sp>
        <p:nvSpPr>
          <p:cNvPr id="117" name="Google Shape;11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 idea es que el usuario entre, diga para qué quiere el PC, cuánto puede gastar, y la plataforma le proponga alternativas justificadas, no “mágicas”. Cada recomendación explica por qué: perfil de uso, componentes clave y compatibilidad. El admin, por su parte, puede mantener la información viva, revisar cuando alguien reporta un error y ver qué productos se ven más y cuáles tienen información incompleta. No somos un e‑commerce; nos enfocamos en orientar, no en vender.</a:t>
            </a:r>
            <a:endParaRPr/>
          </a:p>
        </p:txBody>
      </p:sp>
      <p:sp>
        <p:nvSpPr>
          <p:cNvPr id="133" name="Google Shape;13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objetivo no es solo “mostrar productos”, sino reducir la incertidumbre al comprar. Queremos que alguien que no es experto salga de la plataforma entendiendo qué comprar y por qué, evitando errores de compatibilidad y ajustando mejor la relación precio/rendimiento.</a:t>
            </a:r>
            <a:endParaRPr/>
          </a:p>
        </p:txBody>
      </p:sp>
      <p:sp>
        <p:nvSpPr>
          <p:cNvPr id="154" name="Google Shape;15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Cada objetivo aterriza algo concreto: desde “la puerta de entrada” (auth y perfiles) hasta la calidad de los datos, pasando por el motor que da sentido al proyecto. Remarcamos que no basta con recomendar: hay que explicar, cuidar la experiencia visual y asegurar que lo implementado está realmente probado.</a:t>
            </a:r>
            <a:endParaRPr/>
          </a:p>
        </p:txBody>
      </p:sp>
      <p:sp>
        <p:nvSpPr>
          <p:cNvPr id="171" name="Google Shape;17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Puedes comentar cómo dividimos los sprints (auth/perfil, catálogo, recomendador, favoritos/reportes, analytics/pulido), y cómo las retrospectivas nos permitieron ir ajustando decisiones técnicas y de diseño. Resalta que el trabajo no fue lineal “de una sola vez”, sino en capas: primero algo simple pero funcional, luego se fue refinando.</a:t>
            </a:r>
            <a:endParaRPr/>
          </a:p>
        </p:txBody>
      </p:sp>
      <p:sp>
        <p:nvSpPr>
          <p:cNvPr id="199" name="Google Shape;19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foco aquí es mostrar que hubo planificación y seguimiento. Si pones una captura de Trello o un gráfico burndown, comenta cómo estimaron puntos, cómo ajustaron cuando aparecieron tareas nuevas y cómo se distribuyeron las responsabilidades.</a:t>
            </a:r>
            <a:endParaRPr/>
          </a:p>
        </p:txBody>
      </p:sp>
      <p:sp>
        <p:nvSpPr>
          <p:cNvPr id="219" name="Google Shape;21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9" name="Google Shape;23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Aquí la slide muestra los UML, y se explican. Se comenta que optaros por una arquitectura monolítica sencilla pero organizada en capas: vistas, servicios y modelos. Subraya que la separación permite cambiar reglas de recomendación o compatibilidad sin reescribir todo el sitio, y que el panel admin/analytics “lee” la misma información que consumen las vistas públicas.</a:t>
            </a:r>
            <a:endParaRPr/>
          </a:p>
        </p:txBody>
      </p:sp>
      <p:sp>
        <p:nvSpPr>
          <p:cNvPr id="240" name="Google Shape;24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 pede justificar brevemente por qué Django (rapidez de desarrollo, admin integrado, ORM que simplifica datos), por qué SQLite para el entorno académico (ligero y suficiente) y cómo Bootstrap y el CSS propio permitieron llegar al diseño actual (modo oscuro/clarito, cards, etc.). También mencionar que, aunque el stack es sencillo, la estructura permite escalar (cambiar BD, agregar cache, etc.) sin cambiar el modelo conceptual.</a:t>
            </a:r>
            <a:endParaRPr/>
          </a:p>
        </p:txBody>
      </p:sp>
      <p:sp>
        <p:nvSpPr>
          <p:cNvPr id="259" name="Google Shape;25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9" Type="http://schemas.openxmlformats.org/officeDocument/2006/relationships/image" Target="../media/image18.png"/><Relationship Id="rId5" Type="http://schemas.openxmlformats.org/officeDocument/2006/relationships/image" Target="../media/image33.png"/><Relationship Id="rId6" Type="http://schemas.openxmlformats.org/officeDocument/2006/relationships/image" Target="../media/image19.png"/><Relationship Id="rId7" Type="http://schemas.openxmlformats.org/officeDocument/2006/relationships/image" Target="../media/image28.png"/><Relationship Id="rId8" Type="http://schemas.openxmlformats.org/officeDocument/2006/relationships/image" Target="../media/image2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17.png"/><Relationship Id="rId5" Type="http://schemas.openxmlformats.org/officeDocument/2006/relationships/image" Target="../media/image2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png"/><Relationship Id="rId4" Type="http://schemas.openxmlformats.org/officeDocument/2006/relationships/image" Target="../media/image20.png"/><Relationship Id="rId5" Type="http://schemas.openxmlformats.org/officeDocument/2006/relationships/image" Target="../media/image22.png"/><Relationship Id="rId6" Type="http://schemas.openxmlformats.org/officeDocument/2006/relationships/image" Target="../media/image27.png"/><Relationship Id="rId7" Type="http://schemas.openxmlformats.org/officeDocument/2006/relationships/image" Target="../media/image31.png"/><Relationship Id="rId8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22.png"/><Relationship Id="rId5" Type="http://schemas.openxmlformats.org/officeDocument/2006/relationships/image" Target="../media/image26.png"/><Relationship Id="rId6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388756" y="2779633"/>
            <a:ext cx="11513478" cy="3202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697" u="none" cap="none" strike="noStrike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MiPc Ideal</a:t>
            </a:r>
            <a:endParaRPr/>
          </a:p>
          <a:p>
            <a:pPr indent="0" lvl="0" marL="0" marR="0" rtl="0" algn="l">
              <a:lnSpc>
                <a:spcPct val="1400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99" u="none" cap="none" strike="noStrike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(Recomendación Pc y Componentes)</a:t>
            </a:r>
            <a:endParaRPr/>
          </a:p>
        </p:txBody>
      </p:sp>
      <p:grpSp>
        <p:nvGrpSpPr>
          <p:cNvPr id="89" name="Google Shape;89;p1"/>
          <p:cNvGrpSpPr/>
          <p:nvPr/>
        </p:nvGrpSpPr>
        <p:grpSpPr>
          <a:xfrm>
            <a:off x="13184028" y="-331856"/>
            <a:ext cx="5401691" cy="10806051"/>
            <a:chOff x="0" y="-38100"/>
            <a:chExt cx="1422668" cy="2846038"/>
          </a:xfrm>
        </p:grpSpPr>
        <p:sp>
          <p:nvSpPr>
            <p:cNvPr id="90" name="Google Shape;90;p1"/>
            <p:cNvSpPr/>
            <p:nvPr/>
          </p:nvSpPr>
          <p:spPr>
            <a:xfrm>
              <a:off x="0" y="0"/>
              <a:ext cx="1422668" cy="2807938"/>
            </a:xfrm>
            <a:custGeom>
              <a:rect b="b" l="l" r="r" t="t"/>
              <a:pathLst>
                <a:path extrusionOk="0" h="2807938" w="1422668">
                  <a:moveTo>
                    <a:pt x="0" y="0"/>
                  </a:moveTo>
                  <a:lnTo>
                    <a:pt x="1422668" y="0"/>
                  </a:lnTo>
                  <a:lnTo>
                    <a:pt x="1422668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94D4C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0" y="-38100"/>
              <a:ext cx="1422668" cy="28460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" name="Google Shape;92;p1"/>
          <p:cNvSpPr/>
          <p:nvPr/>
        </p:nvSpPr>
        <p:spPr>
          <a:xfrm>
            <a:off x="11265097" y="3179683"/>
            <a:ext cx="6331273" cy="5352803"/>
          </a:xfrm>
          <a:custGeom>
            <a:rect b="b" l="l" r="r" t="t"/>
            <a:pathLst>
              <a:path extrusionOk="0" h="5352803" w="6331273">
                <a:moveTo>
                  <a:pt x="0" y="0"/>
                </a:moveTo>
                <a:lnTo>
                  <a:pt x="6331273" y="0"/>
                </a:lnTo>
                <a:lnTo>
                  <a:pt x="6331273" y="5352804"/>
                </a:lnTo>
                <a:lnTo>
                  <a:pt x="0" y="53528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/>
          <p:nvPr/>
        </p:nvSpPr>
        <p:spPr>
          <a:xfrm rot="5400000">
            <a:off x="1313848" y="6529251"/>
            <a:ext cx="979946" cy="6124661"/>
          </a:xfrm>
          <a:custGeom>
            <a:rect b="b" l="l" r="r" t="t"/>
            <a:pathLst>
              <a:path extrusionOk="0" h="6124661" w="979946">
                <a:moveTo>
                  <a:pt x="0" y="0"/>
                </a:moveTo>
                <a:lnTo>
                  <a:pt x="979946" y="0"/>
                </a:lnTo>
                <a:lnTo>
                  <a:pt x="979946" y="6124661"/>
                </a:lnTo>
                <a:lnTo>
                  <a:pt x="0" y="61246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/>
          <p:nvPr/>
        </p:nvSpPr>
        <p:spPr>
          <a:xfrm rot="10800000">
            <a:off x="9144000" y="-1264285"/>
            <a:ext cx="1077329" cy="4114800"/>
          </a:xfrm>
          <a:custGeom>
            <a:rect b="b" l="l" r="r" t="t"/>
            <a:pathLst>
              <a:path extrusionOk="0" h="4114800" w="1077329">
                <a:moveTo>
                  <a:pt x="0" y="0"/>
                </a:moveTo>
                <a:lnTo>
                  <a:pt x="1077329" y="0"/>
                </a:lnTo>
                <a:lnTo>
                  <a:pt x="107732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98" name="Google Shape;98;p1"/>
          <p:cNvSpPr txBox="1"/>
          <p:nvPr/>
        </p:nvSpPr>
        <p:spPr>
          <a:xfrm>
            <a:off x="16130503" y="9378792"/>
            <a:ext cx="1465866" cy="578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7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99" name="Google Shape;99;p1"/>
          <p:cNvSpPr txBox="1"/>
          <p:nvPr/>
        </p:nvSpPr>
        <p:spPr>
          <a:xfrm>
            <a:off x="1388756" y="6648347"/>
            <a:ext cx="9068598" cy="2101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5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5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Asignatura: CAPSTONE 002D</a:t>
            </a:r>
            <a:endParaRPr/>
          </a:p>
          <a:p>
            <a:pPr indent="0" lvl="0" marL="0" marR="0" rtl="0" algn="just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Docente: Jorge Castro</a:t>
            </a:r>
            <a:endParaRPr/>
          </a:p>
          <a:p>
            <a:pPr indent="0" lvl="0" marL="0" marR="0" rtl="0" algn="just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Integrantes: Carlos Saavedra - Cristian Nuñez</a:t>
            </a:r>
            <a:endParaRPr/>
          </a:p>
        </p:txBody>
      </p:sp>
      <p:pic>
        <p:nvPicPr>
          <p:cNvPr id="100" name="Google Shape;100;p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15075" y="321250"/>
            <a:ext cx="2848450" cy="70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ECACA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"/>
          <p:cNvSpPr txBox="1"/>
          <p:nvPr/>
        </p:nvSpPr>
        <p:spPr>
          <a:xfrm>
            <a:off x="7610655" y="2542897"/>
            <a:ext cx="7641410" cy="14839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46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Contexto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1942495" y="2088122"/>
            <a:ext cx="4172487" cy="7475140"/>
          </a:xfrm>
          <a:custGeom>
            <a:rect b="b" l="l" r="r" t="t"/>
            <a:pathLst>
              <a:path extrusionOk="0" h="7475140" w="4172487">
                <a:moveTo>
                  <a:pt x="0" y="0"/>
                </a:moveTo>
                <a:lnTo>
                  <a:pt x="4172487" y="0"/>
                </a:lnTo>
                <a:lnTo>
                  <a:pt x="4172487" y="7475139"/>
                </a:lnTo>
                <a:lnTo>
                  <a:pt x="0" y="74751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 rot="-5400000">
            <a:off x="16270938" y="474532"/>
            <a:ext cx="979946" cy="6124661"/>
          </a:xfrm>
          <a:custGeom>
            <a:rect b="b" l="l" r="r" t="t"/>
            <a:pathLst>
              <a:path extrusionOk="0" h="6124661" w="979946">
                <a:moveTo>
                  <a:pt x="0" y="0"/>
                </a:moveTo>
                <a:lnTo>
                  <a:pt x="979946" y="0"/>
                </a:lnTo>
                <a:lnTo>
                  <a:pt x="979946" y="6124661"/>
                </a:lnTo>
                <a:lnTo>
                  <a:pt x="0" y="61246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7026105" y="4311534"/>
            <a:ext cx="8066100" cy="30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Crece la demanda de equipos/componentes de PC adaptados a perfiles (gamer, estudio, trabajo/diseño, hogar).</a:t>
            </a:r>
            <a:endParaRPr/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Usuarios no expertos se enfrentan a exceso de información técnica y opciones muy similares entre sí.</a:t>
            </a:r>
            <a:endParaRPr/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oferta está, pero falta una guía que traduzca necesidades reales (jugar X, editar video, estudiar) a configuraciones compatibles y razonables en costo.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oogle Shape;119;p3"/>
          <p:cNvGrpSpPr/>
          <p:nvPr/>
        </p:nvGrpSpPr>
        <p:grpSpPr>
          <a:xfrm>
            <a:off x="10728812" y="-331856"/>
            <a:ext cx="8686227" cy="10806051"/>
            <a:chOff x="0" y="-38100"/>
            <a:chExt cx="2287730" cy="2846038"/>
          </a:xfrm>
        </p:grpSpPr>
        <p:sp>
          <p:nvSpPr>
            <p:cNvPr id="120" name="Google Shape;120;p3"/>
            <p:cNvSpPr/>
            <p:nvPr/>
          </p:nvSpPr>
          <p:spPr>
            <a:xfrm>
              <a:off x="0" y="0"/>
              <a:ext cx="2287730" cy="2807938"/>
            </a:xfrm>
            <a:custGeom>
              <a:rect b="b" l="l" r="r" t="t"/>
              <a:pathLst>
                <a:path extrusionOk="0" h="2807938" w="2287730">
                  <a:moveTo>
                    <a:pt x="0" y="0"/>
                  </a:moveTo>
                  <a:lnTo>
                    <a:pt x="2287730" y="0"/>
                  </a:lnTo>
                  <a:lnTo>
                    <a:pt x="2287730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DC786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3"/>
            <p:cNvSpPr txBox="1"/>
            <p:nvPr/>
          </p:nvSpPr>
          <p:spPr>
            <a:xfrm>
              <a:off x="0" y="-38100"/>
              <a:ext cx="2287729" cy="28460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2" name="Google Shape;122;p3"/>
          <p:cNvSpPr txBox="1"/>
          <p:nvPr/>
        </p:nvSpPr>
        <p:spPr>
          <a:xfrm>
            <a:off x="1942495" y="3785324"/>
            <a:ext cx="7201505" cy="11772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46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Problema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124" name="Google Shape;124;p3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127" name="Google Shape;127;p3"/>
          <p:cNvSpPr txBox="1"/>
          <p:nvPr/>
        </p:nvSpPr>
        <p:spPr>
          <a:xfrm>
            <a:off x="1942495" y="5585681"/>
            <a:ext cx="7201505" cy="27217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Usuarios sin conocimientos técnicos no tienen seguridad para elegir componentes adecuados a su uso.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información está fragmentada en tiendas, foros y comparadores, sin un criterio único ni lenguaje simple.</a:t>
            </a:r>
            <a:endParaRPr/>
          </a:p>
          <a:p>
            <a:pPr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Esto aumenta el riesgo de comprar componentes incompatibles o que rinden muy por debajo de lo esperado.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3"/>
          <p:cNvSpPr/>
          <p:nvPr/>
        </p:nvSpPr>
        <p:spPr>
          <a:xfrm rot="10800000">
            <a:off x="8164054" y="-2151423"/>
            <a:ext cx="979946" cy="6124661"/>
          </a:xfrm>
          <a:custGeom>
            <a:rect b="b" l="l" r="r" t="t"/>
            <a:pathLst>
              <a:path extrusionOk="0" h="6124661" w="979946">
                <a:moveTo>
                  <a:pt x="0" y="0"/>
                </a:moveTo>
                <a:lnTo>
                  <a:pt x="979946" y="0"/>
                </a:lnTo>
                <a:lnTo>
                  <a:pt x="979946" y="6124661"/>
                </a:lnTo>
                <a:lnTo>
                  <a:pt x="0" y="61246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11277600" y="2810654"/>
            <a:ext cx="5849505" cy="5881586"/>
          </a:xfrm>
          <a:custGeom>
            <a:rect b="b" l="l" r="r" t="t"/>
            <a:pathLst>
              <a:path extrusionOk="0" h="5881586" w="5849505">
                <a:moveTo>
                  <a:pt x="0" y="0"/>
                </a:moveTo>
                <a:lnTo>
                  <a:pt x="5849505" y="0"/>
                </a:lnTo>
                <a:lnTo>
                  <a:pt x="5849505" y="5881586"/>
                </a:lnTo>
                <a:lnTo>
                  <a:pt x="0" y="588158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4D4C4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 txBox="1"/>
          <p:nvPr/>
        </p:nvSpPr>
        <p:spPr>
          <a:xfrm>
            <a:off x="1910650" y="2495256"/>
            <a:ext cx="12150907" cy="12974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159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Solución</a:t>
            </a:r>
            <a:endParaRPr sz="10159">
              <a:solidFill>
                <a:srgbClr val="000000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139" name="Google Shape;139;p4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140" name="Google Shape;140;p4"/>
          <p:cNvSpPr txBox="1"/>
          <p:nvPr/>
        </p:nvSpPr>
        <p:spPr>
          <a:xfrm>
            <a:off x="2856291" y="5056409"/>
            <a:ext cx="4539301" cy="1336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Plataforma web de recomendación de equipos y componentes de PC, centrada en el uso real y el presupuesto del usuario.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2161840" y="5018710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13106400" y="2812031"/>
            <a:ext cx="4025429" cy="1297487"/>
          </a:xfrm>
          <a:custGeom>
            <a:rect b="b" l="l" r="r" t="t"/>
            <a:pathLst>
              <a:path extrusionOk="0" h="2125929" w="6389404">
                <a:moveTo>
                  <a:pt x="0" y="0"/>
                </a:moveTo>
                <a:lnTo>
                  <a:pt x="6389404" y="0"/>
                </a:lnTo>
                <a:lnTo>
                  <a:pt x="6389404" y="2125929"/>
                </a:lnTo>
                <a:lnTo>
                  <a:pt x="0" y="212592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2663561" y="6776690"/>
            <a:ext cx="6160399" cy="1337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205104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Perfiles de uso claros (gamer, estudio, trabajo/diseño, hogar) y filtros simples, en vez de obligar a entender todas las especificaciones.</a:t>
            </a:r>
            <a:endParaRPr b="0" i="0" sz="1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2110015" y="6780611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 rot="5400000">
            <a:off x="1452522" y="-1543658"/>
            <a:ext cx="979946" cy="6124661"/>
          </a:xfrm>
          <a:custGeom>
            <a:rect b="b" l="l" r="r" t="t"/>
            <a:pathLst>
              <a:path extrusionOk="0" h="6124661" w="979946">
                <a:moveTo>
                  <a:pt x="0" y="0"/>
                </a:moveTo>
                <a:lnTo>
                  <a:pt x="979946" y="0"/>
                </a:lnTo>
                <a:lnTo>
                  <a:pt x="979946" y="6124661"/>
                </a:lnTo>
                <a:lnTo>
                  <a:pt x="0" y="61246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 rot="-5400000">
            <a:off x="15514664" y="6703723"/>
            <a:ext cx="1231678" cy="4704324"/>
          </a:xfrm>
          <a:custGeom>
            <a:rect b="b" l="l" r="r" t="t"/>
            <a:pathLst>
              <a:path extrusionOk="0" h="4704324" w="1231678">
                <a:moveTo>
                  <a:pt x="0" y="0"/>
                </a:moveTo>
                <a:lnTo>
                  <a:pt x="1231678" y="0"/>
                </a:lnTo>
                <a:lnTo>
                  <a:pt x="1231678" y="4704324"/>
                </a:lnTo>
                <a:lnTo>
                  <a:pt x="0" y="47043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10901929" y="4969881"/>
            <a:ext cx="5108087" cy="17064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Motor de recomendaciones que combina compatibilidad, rendimiento y presupuesto, mostrando motivos de cada sugerencia.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10161721" y="4939175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49" name="Google Shape;149;p4"/>
          <p:cNvSpPr txBox="1"/>
          <p:nvPr/>
        </p:nvSpPr>
        <p:spPr>
          <a:xfrm>
            <a:off x="10886689" y="6733617"/>
            <a:ext cx="5108087" cy="13367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Panel de administración para mantener el catálogo, moderar reportes y revisar métricas (vistas, clics, fichas incompletas).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10146481" y="6702911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5"/>
          <p:cNvSpPr txBox="1"/>
          <p:nvPr/>
        </p:nvSpPr>
        <p:spPr>
          <a:xfrm>
            <a:off x="1114390" y="4059564"/>
            <a:ext cx="9131652" cy="11772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46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Objetivo general</a:t>
            </a:r>
            <a:endParaRPr/>
          </a:p>
        </p:txBody>
      </p:sp>
      <p:grpSp>
        <p:nvGrpSpPr>
          <p:cNvPr id="157" name="Google Shape;157;p5"/>
          <p:cNvGrpSpPr/>
          <p:nvPr/>
        </p:nvGrpSpPr>
        <p:grpSpPr>
          <a:xfrm>
            <a:off x="10728812" y="-331856"/>
            <a:ext cx="8686227" cy="10806051"/>
            <a:chOff x="0" y="-38100"/>
            <a:chExt cx="2287730" cy="2846038"/>
          </a:xfrm>
        </p:grpSpPr>
        <p:sp>
          <p:nvSpPr>
            <p:cNvPr id="158" name="Google Shape;158;p5"/>
            <p:cNvSpPr/>
            <p:nvPr/>
          </p:nvSpPr>
          <p:spPr>
            <a:xfrm>
              <a:off x="0" y="0"/>
              <a:ext cx="2287730" cy="2807938"/>
            </a:xfrm>
            <a:custGeom>
              <a:rect b="b" l="l" r="r" t="t"/>
              <a:pathLst>
                <a:path extrusionOk="0" h="2807938" w="2287730">
                  <a:moveTo>
                    <a:pt x="0" y="0"/>
                  </a:moveTo>
                  <a:lnTo>
                    <a:pt x="2287730" y="0"/>
                  </a:lnTo>
                  <a:lnTo>
                    <a:pt x="2287730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DC786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5"/>
            <p:cNvSpPr txBox="1"/>
            <p:nvPr/>
          </p:nvSpPr>
          <p:spPr>
            <a:xfrm>
              <a:off x="0" y="-38100"/>
              <a:ext cx="2287729" cy="28460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0" name="Google Shape;160;p5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161" name="Google Shape;161;p5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162" name="Google Shape;162;p5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163" name="Google Shape;163;p5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164" name="Google Shape;164;p5"/>
          <p:cNvSpPr txBox="1"/>
          <p:nvPr/>
        </p:nvSpPr>
        <p:spPr>
          <a:xfrm>
            <a:off x="1453989" y="6008361"/>
            <a:ext cx="8066100" cy="11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Desarrollar una plataforma web que recomiende equipos</a:t>
            </a:r>
            <a:r>
              <a:rPr lang="en-US" sz="1899"/>
              <a:t> y</a:t>
            </a: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componentes según las necesidades y el presupuesto de distintos perfiles de usuario, mejorando la búsqueda, la compatibilidad y la experiencia de selección.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12180073" y="2323700"/>
            <a:ext cx="4502502" cy="5826767"/>
          </a:xfrm>
          <a:custGeom>
            <a:rect b="b" l="l" r="r" t="t"/>
            <a:pathLst>
              <a:path extrusionOk="0" h="5826767" w="4502502">
                <a:moveTo>
                  <a:pt x="0" y="0"/>
                </a:moveTo>
                <a:lnTo>
                  <a:pt x="4502501" y="0"/>
                </a:lnTo>
                <a:lnTo>
                  <a:pt x="4502501" y="5826767"/>
                </a:lnTo>
                <a:lnTo>
                  <a:pt x="0" y="58267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 rot="5400000">
            <a:off x="11012544" y="7093305"/>
            <a:ext cx="1231678" cy="4704324"/>
          </a:xfrm>
          <a:custGeom>
            <a:rect b="b" l="l" r="r" t="t"/>
            <a:pathLst>
              <a:path extrusionOk="0" h="4704324" w="1231678">
                <a:moveTo>
                  <a:pt x="0" y="0"/>
                </a:moveTo>
                <a:lnTo>
                  <a:pt x="1231677" y="0"/>
                </a:lnTo>
                <a:lnTo>
                  <a:pt x="1231677" y="4704324"/>
                </a:lnTo>
                <a:lnTo>
                  <a:pt x="0" y="47043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 rot="5400000">
            <a:off x="964016" y="-738631"/>
            <a:ext cx="979946" cy="6124661"/>
          </a:xfrm>
          <a:custGeom>
            <a:rect b="b" l="l" r="r" t="t"/>
            <a:pathLst>
              <a:path extrusionOk="0" h="6124661" w="979946">
                <a:moveTo>
                  <a:pt x="0" y="0"/>
                </a:moveTo>
                <a:lnTo>
                  <a:pt x="979946" y="0"/>
                </a:lnTo>
                <a:lnTo>
                  <a:pt x="979946" y="6124662"/>
                </a:lnTo>
                <a:lnTo>
                  <a:pt x="0" y="61246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Google Shape;173;p6"/>
          <p:cNvGrpSpPr/>
          <p:nvPr/>
        </p:nvGrpSpPr>
        <p:grpSpPr>
          <a:xfrm>
            <a:off x="-1062263" y="-331856"/>
            <a:ext cx="8686227" cy="10806051"/>
            <a:chOff x="0" y="-38100"/>
            <a:chExt cx="2287730" cy="2846038"/>
          </a:xfrm>
        </p:grpSpPr>
        <p:sp>
          <p:nvSpPr>
            <p:cNvPr id="174" name="Google Shape;174;p6"/>
            <p:cNvSpPr/>
            <p:nvPr/>
          </p:nvSpPr>
          <p:spPr>
            <a:xfrm>
              <a:off x="0" y="0"/>
              <a:ext cx="2287730" cy="2807938"/>
            </a:xfrm>
            <a:custGeom>
              <a:rect b="b" l="l" r="r" t="t"/>
              <a:pathLst>
                <a:path extrusionOk="0" h="2807938" w="2287730">
                  <a:moveTo>
                    <a:pt x="0" y="0"/>
                  </a:moveTo>
                  <a:lnTo>
                    <a:pt x="2287730" y="0"/>
                  </a:lnTo>
                  <a:lnTo>
                    <a:pt x="2287730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EECAC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6"/>
            <p:cNvSpPr txBox="1"/>
            <p:nvPr/>
          </p:nvSpPr>
          <p:spPr>
            <a:xfrm>
              <a:off x="0" y="-38100"/>
              <a:ext cx="2287729" cy="28460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6"/>
          <p:cNvSpPr/>
          <p:nvPr/>
        </p:nvSpPr>
        <p:spPr>
          <a:xfrm>
            <a:off x="2856291" y="2166661"/>
            <a:ext cx="3906848" cy="7091639"/>
          </a:xfrm>
          <a:custGeom>
            <a:rect b="b" l="l" r="r" t="t"/>
            <a:pathLst>
              <a:path extrusionOk="0" h="7091639" w="3906848">
                <a:moveTo>
                  <a:pt x="0" y="0"/>
                </a:moveTo>
                <a:lnTo>
                  <a:pt x="3906848" y="0"/>
                </a:lnTo>
                <a:lnTo>
                  <a:pt x="3906848" y="7091639"/>
                </a:lnTo>
                <a:lnTo>
                  <a:pt x="0" y="70916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 txBox="1"/>
          <p:nvPr/>
        </p:nvSpPr>
        <p:spPr>
          <a:xfrm>
            <a:off x="8524893" y="2814226"/>
            <a:ext cx="8734407" cy="23012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46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Objetivos específicos</a:t>
            </a:r>
            <a:endParaRPr/>
          </a:p>
        </p:txBody>
      </p:sp>
      <p:sp>
        <p:nvSpPr>
          <p:cNvPr id="178" name="Google Shape;178;p6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179" name="Google Shape;179;p6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180" name="Google Shape;180;p6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181" name="Google Shape;181;p6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182" name="Google Shape;182;p6"/>
          <p:cNvSpPr txBox="1"/>
          <p:nvPr/>
        </p:nvSpPr>
        <p:spPr>
          <a:xfrm>
            <a:off x="9208144" y="5494859"/>
            <a:ext cx="8051156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gestión de usuarios y roles (registro/login, perfil, preferencias).</a:t>
            </a:r>
            <a:endParaRPr/>
          </a:p>
        </p:txBody>
      </p:sp>
      <p:sp>
        <p:nvSpPr>
          <p:cNvPr id="183" name="Google Shape;183;p6"/>
          <p:cNvSpPr txBox="1"/>
          <p:nvPr/>
        </p:nvSpPr>
        <p:spPr>
          <a:xfrm>
            <a:off x="8544227" y="5418806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84" name="Google Shape;184;p6"/>
          <p:cNvSpPr/>
          <p:nvPr/>
        </p:nvSpPr>
        <p:spPr>
          <a:xfrm>
            <a:off x="865166" y="6689057"/>
            <a:ext cx="1077329" cy="4114800"/>
          </a:xfrm>
          <a:custGeom>
            <a:rect b="b" l="l" r="r" t="t"/>
            <a:pathLst>
              <a:path extrusionOk="0" h="4114800" w="1077329">
                <a:moveTo>
                  <a:pt x="0" y="0"/>
                </a:moveTo>
                <a:lnTo>
                  <a:pt x="1077329" y="0"/>
                </a:lnTo>
                <a:lnTo>
                  <a:pt x="107732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 rot="10800000">
            <a:off x="9227478" y="-3591971"/>
            <a:ext cx="979946" cy="6124661"/>
          </a:xfrm>
          <a:custGeom>
            <a:rect b="b" l="l" r="r" t="t"/>
            <a:pathLst>
              <a:path extrusionOk="0" h="6124661" w="979946">
                <a:moveTo>
                  <a:pt x="0" y="0"/>
                </a:moveTo>
                <a:lnTo>
                  <a:pt x="979945" y="0"/>
                </a:lnTo>
                <a:lnTo>
                  <a:pt x="979945" y="6124661"/>
                </a:lnTo>
                <a:lnTo>
                  <a:pt x="0" y="61246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 txBox="1"/>
          <p:nvPr/>
        </p:nvSpPr>
        <p:spPr>
          <a:xfrm>
            <a:off x="9213478" y="6055086"/>
            <a:ext cx="7931522" cy="615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Construir y mantener una base de datos de productos con especificaciones claras y actualizadas.</a:t>
            </a:r>
            <a:endParaRPr/>
          </a:p>
        </p:txBody>
      </p:sp>
      <p:sp>
        <p:nvSpPr>
          <p:cNvPr id="187" name="Google Shape;187;p6"/>
          <p:cNvSpPr txBox="1"/>
          <p:nvPr/>
        </p:nvSpPr>
        <p:spPr>
          <a:xfrm>
            <a:off x="8523756" y="6124434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88" name="Google Shape;188;p6"/>
          <p:cNvSpPr txBox="1"/>
          <p:nvPr/>
        </p:nvSpPr>
        <p:spPr>
          <a:xfrm>
            <a:off x="9227478" y="6804901"/>
            <a:ext cx="7917522" cy="615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motor de recomendaciones basado en compatibilidad y navegación, rendimiento y presupuesto, con explicaciones legibles.</a:t>
            </a:r>
            <a:endParaRPr/>
          </a:p>
        </p:txBody>
      </p:sp>
      <p:sp>
        <p:nvSpPr>
          <p:cNvPr id="189" name="Google Shape;189;p6"/>
          <p:cNvSpPr txBox="1"/>
          <p:nvPr/>
        </p:nvSpPr>
        <p:spPr>
          <a:xfrm>
            <a:off x="8524893" y="6843471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90" name="Google Shape;190;p6"/>
          <p:cNvSpPr txBox="1"/>
          <p:nvPr/>
        </p:nvSpPr>
        <p:spPr>
          <a:xfrm>
            <a:off x="9242718" y="7593241"/>
            <a:ext cx="7917522" cy="615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Diseñar interfaces accesibles y fáciles de usar, con modo claro/oscuro y buen contraste.</a:t>
            </a:r>
            <a:endParaRPr/>
          </a:p>
        </p:txBody>
      </p:sp>
      <p:sp>
        <p:nvSpPr>
          <p:cNvPr id="191" name="Google Shape;191;p6"/>
          <p:cNvSpPr txBox="1"/>
          <p:nvPr/>
        </p:nvSpPr>
        <p:spPr>
          <a:xfrm>
            <a:off x="8524893" y="7614930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192" name="Google Shape;192;p6"/>
          <p:cNvSpPr txBox="1"/>
          <p:nvPr/>
        </p:nvSpPr>
        <p:spPr>
          <a:xfrm>
            <a:off x="9242718" y="8317928"/>
            <a:ext cx="7917522" cy="6155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Integrar módulos de administración (catálogo, denuncias, métricas) y visibilidad de links para referencias.</a:t>
            </a:r>
            <a:endParaRPr/>
          </a:p>
        </p:txBody>
      </p:sp>
      <p:sp>
        <p:nvSpPr>
          <p:cNvPr id="193" name="Google Shape;193;p6"/>
          <p:cNvSpPr txBox="1"/>
          <p:nvPr/>
        </p:nvSpPr>
        <p:spPr>
          <a:xfrm>
            <a:off x="8523756" y="8380279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194" name="Google Shape;194;p6"/>
          <p:cNvSpPr txBox="1"/>
          <p:nvPr/>
        </p:nvSpPr>
        <p:spPr>
          <a:xfrm>
            <a:off x="9208144" y="9042616"/>
            <a:ext cx="8051156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Validar el sistema con pruebas unitarias, integrales y recorridos reales de usuarios de prueba.</a:t>
            </a:r>
            <a:endParaRPr/>
          </a:p>
        </p:txBody>
      </p:sp>
      <p:sp>
        <p:nvSpPr>
          <p:cNvPr id="195" name="Google Shape;195;p6"/>
          <p:cNvSpPr txBox="1"/>
          <p:nvPr/>
        </p:nvSpPr>
        <p:spPr>
          <a:xfrm>
            <a:off x="8523756" y="9042616"/>
            <a:ext cx="568786" cy="4866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94D4C4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"/>
          <p:cNvSpPr/>
          <p:nvPr/>
        </p:nvSpPr>
        <p:spPr>
          <a:xfrm rot="10800000">
            <a:off x="2603441" y="-1026280"/>
            <a:ext cx="1231678" cy="4704324"/>
          </a:xfrm>
          <a:custGeom>
            <a:rect b="b" l="l" r="r" t="t"/>
            <a:pathLst>
              <a:path extrusionOk="0" h="4704324" w="1231678">
                <a:moveTo>
                  <a:pt x="0" y="0"/>
                </a:moveTo>
                <a:lnTo>
                  <a:pt x="1231678" y="0"/>
                </a:lnTo>
                <a:lnTo>
                  <a:pt x="1231678" y="4704324"/>
                </a:lnTo>
                <a:lnTo>
                  <a:pt x="0" y="47043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 txBox="1"/>
          <p:nvPr/>
        </p:nvSpPr>
        <p:spPr>
          <a:xfrm>
            <a:off x="2519221" y="2159485"/>
            <a:ext cx="13249558" cy="11772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2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46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Metodología</a:t>
            </a:r>
            <a:endParaRPr/>
          </a:p>
        </p:txBody>
      </p:sp>
      <p:sp>
        <p:nvSpPr>
          <p:cNvPr id="203" name="Google Shape;203;p7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204" name="Google Shape;204;p7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205" name="Google Shape;205;p7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206" name="Google Shape;206;p7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15526171" y="5952808"/>
            <a:ext cx="1231678" cy="4704324"/>
          </a:xfrm>
          <a:custGeom>
            <a:rect b="b" l="l" r="r" t="t"/>
            <a:pathLst>
              <a:path extrusionOk="0" h="4704324" w="1231678">
                <a:moveTo>
                  <a:pt x="0" y="0"/>
                </a:moveTo>
                <a:lnTo>
                  <a:pt x="1231678" y="0"/>
                </a:lnTo>
                <a:lnTo>
                  <a:pt x="1231678" y="4704324"/>
                </a:lnTo>
                <a:lnTo>
                  <a:pt x="0" y="47043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 txBox="1"/>
          <p:nvPr/>
        </p:nvSpPr>
        <p:spPr>
          <a:xfrm>
            <a:off x="3219280" y="4942965"/>
            <a:ext cx="5108087" cy="12673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Uso de metodología ágil: trabajo iterativo e incremental, con entregas parciales en cada sprint.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3835120" y="4267767"/>
            <a:ext cx="3559597" cy="489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Metodología ágil</a:t>
            </a:r>
            <a:endParaRPr sz="2862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7"/>
          <p:cNvSpPr txBox="1"/>
          <p:nvPr/>
        </p:nvSpPr>
        <p:spPr>
          <a:xfrm>
            <a:off x="3219280" y="7144730"/>
            <a:ext cx="5108087" cy="29517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5105" lvl="1" marL="410209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Levantamiento y análisis de requerimientos.</a:t>
            </a:r>
            <a:endParaRPr/>
          </a:p>
          <a:p>
            <a:pPr indent="-205105" lvl="1" marL="410209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Diseño de la solución.</a:t>
            </a:r>
            <a:endParaRPr/>
          </a:p>
          <a:p>
            <a:pPr indent="-205105" lvl="1" marL="410209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Desarrollo de módulos.</a:t>
            </a:r>
            <a:endParaRPr/>
          </a:p>
          <a:p>
            <a:pPr indent="-205105" lvl="1" marL="410209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Pruebas e integración.</a:t>
            </a:r>
            <a:endParaRPr/>
          </a:p>
          <a:p>
            <a:pPr indent="-205105" lvl="1" marL="410209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99"/>
              <a:buFont typeface="Arial"/>
              <a:buChar char="•"/>
            </a:pPr>
            <a:r>
              <a:rPr b="0" i="0" lang="en-US" sz="189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Documentación y cierre.</a:t>
            </a:r>
            <a:endParaRPr/>
          </a:p>
          <a:p>
            <a:pPr indent="0" lvl="0" marL="0" marR="0" rtl="0" algn="l">
              <a:lnSpc>
                <a:spcPct val="1400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3993525" y="6464961"/>
            <a:ext cx="3559597" cy="489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Etapas:</a:t>
            </a:r>
            <a:endParaRPr/>
          </a:p>
        </p:txBody>
      </p:sp>
      <p:sp>
        <p:nvSpPr>
          <p:cNvPr id="212" name="Google Shape;212;p7"/>
          <p:cNvSpPr txBox="1"/>
          <p:nvPr/>
        </p:nvSpPr>
        <p:spPr>
          <a:xfrm>
            <a:off x="9807793" y="4942965"/>
            <a:ext cx="5108087" cy="12673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Reuniones de coordinación semanales para revisar avances, re‑priorizar y corregir el rumbo si es necesario.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10861198" y="4267767"/>
            <a:ext cx="2501142" cy="489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Organización</a:t>
            </a:r>
            <a:endParaRPr/>
          </a:p>
        </p:txBody>
      </p:sp>
      <p:sp>
        <p:nvSpPr>
          <p:cNvPr id="214" name="Google Shape;214;p7"/>
          <p:cNvSpPr txBox="1"/>
          <p:nvPr/>
        </p:nvSpPr>
        <p:spPr>
          <a:xfrm>
            <a:off x="9807793" y="7144730"/>
            <a:ext cx="5108087" cy="12673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Ambos integrantes participan en todas las fases, con revisión cruzada de código y documentación para asegurar calidad.</a:t>
            </a:r>
            <a:endParaRPr sz="189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10861198" y="6464961"/>
            <a:ext cx="2996228" cy="4892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6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Roles: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1" name="Google Shape;221;p8"/>
          <p:cNvGrpSpPr/>
          <p:nvPr/>
        </p:nvGrpSpPr>
        <p:grpSpPr>
          <a:xfrm>
            <a:off x="-609600" y="-954915"/>
            <a:ext cx="19775564" cy="11564576"/>
            <a:chOff x="0" y="-38100"/>
            <a:chExt cx="5007688" cy="2846038"/>
          </a:xfrm>
        </p:grpSpPr>
        <p:sp>
          <p:nvSpPr>
            <p:cNvPr id="222" name="Google Shape;222;p8"/>
            <p:cNvSpPr/>
            <p:nvPr/>
          </p:nvSpPr>
          <p:spPr>
            <a:xfrm>
              <a:off x="0" y="0"/>
              <a:ext cx="5007688" cy="2807938"/>
            </a:xfrm>
            <a:custGeom>
              <a:rect b="b" l="l" r="r" t="t"/>
              <a:pathLst>
                <a:path extrusionOk="0" h="2807938" w="5007688">
                  <a:moveTo>
                    <a:pt x="0" y="0"/>
                  </a:moveTo>
                  <a:lnTo>
                    <a:pt x="5007688" y="0"/>
                  </a:lnTo>
                  <a:lnTo>
                    <a:pt x="5007688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DC786D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p8"/>
            <p:cNvSpPr txBox="1"/>
            <p:nvPr/>
          </p:nvSpPr>
          <p:spPr>
            <a:xfrm>
              <a:off x="0" y="-38100"/>
              <a:ext cx="5007688" cy="28460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4" name="Google Shape;224;p8"/>
          <p:cNvSpPr txBox="1"/>
          <p:nvPr/>
        </p:nvSpPr>
        <p:spPr>
          <a:xfrm>
            <a:off x="5587595" y="812682"/>
            <a:ext cx="8772609" cy="1188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46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Cronograma</a:t>
            </a:r>
            <a:endParaRPr sz="8646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25" name="Google Shape;225;p8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226" name="Google Shape;226;p8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227" name="Google Shape;227;p8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228" name="Google Shape;228;p8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229" name="Google Shape;229;p8"/>
          <p:cNvSpPr txBox="1"/>
          <p:nvPr/>
        </p:nvSpPr>
        <p:spPr>
          <a:xfrm>
            <a:off x="16130503" y="9378792"/>
            <a:ext cx="1465866" cy="578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7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  <p:sp>
        <p:nvSpPr>
          <p:cNvPr id="230" name="Google Shape;230;p8"/>
          <p:cNvSpPr/>
          <p:nvPr/>
        </p:nvSpPr>
        <p:spPr>
          <a:xfrm>
            <a:off x="380255" y="5507014"/>
            <a:ext cx="3018700" cy="4450715"/>
          </a:xfrm>
          <a:custGeom>
            <a:rect b="b" l="l" r="r" t="t"/>
            <a:pathLst>
              <a:path extrusionOk="0" h="6143903" w="5038000">
                <a:moveTo>
                  <a:pt x="0" y="0"/>
                </a:moveTo>
                <a:lnTo>
                  <a:pt x="5038001" y="0"/>
                </a:lnTo>
                <a:lnTo>
                  <a:pt x="5038001" y="6143903"/>
                </a:lnTo>
                <a:lnTo>
                  <a:pt x="0" y="614390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 rot="10800000">
            <a:off x="17091507" y="-528536"/>
            <a:ext cx="1231678" cy="4704324"/>
          </a:xfrm>
          <a:custGeom>
            <a:rect b="b" l="l" r="r" t="t"/>
            <a:pathLst>
              <a:path extrusionOk="0" h="4704324" w="1231678">
                <a:moveTo>
                  <a:pt x="0" y="0"/>
                </a:moveTo>
                <a:lnTo>
                  <a:pt x="1231678" y="0"/>
                </a:lnTo>
                <a:lnTo>
                  <a:pt x="1231678" y="4704324"/>
                </a:lnTo>
                <a:lnTo>
                  <a:pt x="0" y="47043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812772" y="2892098"/>
            <a:ext cx="3693773" cy="3359123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id="233" name="Google Shape;233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171405" y="2848086"/>
            <a:ext cx="3572795" cy="3498875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id="234" name="Google Shape;234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2680257" y="2899718"/>
            <a:ext cx="3684435" cy="3492870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id="235" name="Google Shape;235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10141" y="6877259"/>
            <a:ext cx="3407369" cy="3359122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id="236" name="Google Shape;236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11956" y="6851984"/>
            <a:ext cx="3708549" cy="3373201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2" name="Google Shape;242;p9"/>
          <p:cNvGrpSpPr/>
          <p:nvPr/>
        </p:nvGrpSpPr>
        <p:grpSpPr>
          <a:xfrm>
            <a:off x="-655384" y="-331856"/>
            <a:ext cx="19629184" cy="10806051"/>
            <a:chOff x="0" y="-38100"/>
            <a:chExt cx="2719594" cy="2846038"/>
          </a:xfrm>
        </p:grpSpPr>
        <p:sp>
          <p:nvSpPr>
            <p:cNvPr id="243" name="Google Shape;243;p9"/>
            <p:cNvSpPr/>
            <p:nvPr/>
          </p:nvSpPr>
          <p:spPr>
            <a:xfrm>
              <a:off x="0" y="0"/>
              <a:ext cx="2719593" cy="2807938"/>
            </a:xfrm>
            <a:custGeom>
              <a:rect b="b" l="l" r="r" t="t"/>
              <a:pathLst>
                <a:path extrusionOk="0" h="2807938" w="2719593">
                  <a:moveTo>
                    <a:pt x="0" y="0"/>
                  </a:moveTo>
                  <a:lnTo>
                    <a:pt x="2719593" y="0"/>
                  </a:lnTo>
                  <a:lnTo>
                    <a:pt x="2719593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EECAC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4" name="Google Shape;244;p9"/>
            <p:cNvSpPr txBox="1"/>
            <p:nvPr/>
          </p:nvSpPr>
          <p:spPr>
            <a:xfrm>
              <a:off x="0" y="-38100"/>
              <a:ext cx="2719594" cy="28460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5" name="Google Shape;245;p9"/>
          <p:cNvSpPr txBox="1"/>
          <p:nvPr/>
        </p:nvSpPr>
        <p:spPr>
          <a:xfrm>
            <a:off x="1371600" y="1562100"/>
            <a:ext cx="9131652" cy="11772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46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Arquitectura</a:t>
            </a:r>
            <a:endParaRPr sz="8646">
              <a:solidFill>
                <a:srgbClr val="000000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46" name="Google Shape;246;p9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247" name="Google Shape;247;p9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248" name="Google Shape;248;p9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249" name="Google Shape;249;p9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pic>
        <p:nvPicPr>
          <p:cNvPr descr="Diagrama&#10;&#10;El contenido generado por IA puede ser incorrecto." id="250" name="Google Shape;2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9200" y="3256200"/>
            <a:ext cx="5867400" cy="1787689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descr="Diagrama&#10;&#10;El contenido generado por IA puede ser incorrecto." id="251" name="Google Shape;25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73091" y="5560717"/>
            <a:ext cx="3246909" cy="3994128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descr="Diagrama&#10;&#10;El contenido generado por IA puede ser incorrecto." id="252" name="Google Shape;25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13338" y="2739372"/>
            <a:ext cx="6955462" cy="6438900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>
            <a:noFill/>
          </a:ln>
          <a:effectLst>
            <a:reflection blurRad="0" dir="5400000" dist="5000" endA="0" endPos="28000" kx="0" rotWithShape="0" algn="bl" stA="38000" stPos="0" sy="-100000" ky="0"/>
          </a:effectLst>
        </p:spPr>
      </p:pic>
      <p:sp>
        <p:nvSpPr>
          <p:cNvPr id="253" name="Google Shape;253;p9"/>
          <p:cNvSpPr txBox="1"/>
          <p:nvPr/>
        </p:nvSpPr>
        <p:spPr>
          <a:xfrm>
            <a:off x="1371600" y="5143500"/>
            <a:ext cx="3124200" cy="369332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componentes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 txBox="1"/>
          <p:nvPr/>
        </p:nvSpPr>
        <p:spPr>
          <a:xfrm>
            <a:off x="4373091" y="9630939"/>
            <a:ext cx="3124200" cy="3693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despliegue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10325102" y="9272530"/>
            <a:ext cx="3124200" cy="369332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clases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0"/>
          <p:cNvSpPr/>
          <p:nvPr/>
        </p:nvSpPr>
        <p:spPr>
          <a:xfrm rot="-5400000">
            <a:off x="11065079" y="447057"/>
            <a:ext cx="3187100" cy="4114800"/>
          </a:xfrm>
          <a:custGeom>
            <a:rect b="b" l="l" r="r" t="t"/>
            <a:pathLst>
              <a:path extrusionOk="0" h="4114800" w="3187100">
                <a:moveTo>
                  <a:pt x="0" y="0"/>
                </a:moveTo>
                <a:lnTo>
                  <a:pt x="3187100" y="0"/>
                </a:lnTo>
                <a:lnTo>
                  <a:pt x="31871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15151872" y="6729774"/>
            <a:ext cx="2715693" cy="2715693"/>
          </a:xfrm>
          <a:custGeom>
            <a:rect b="b" l="l" r="r" t="t"/>
            <a:pathLst>
              <a:path extrusionOk="0" h="2715693" w="2715693">
                <a:moveTo>
                  <a:pt x="0" y="0"/>
                </a:moveTo>
                <a:lnTo>
                  <a:pt x="2715693" y="0"/>
                </a:lnTo>
                <a:lnTo>
                  <a:pt x="2715693" y="2715693"/>
                </a:lnTo>
                <a:lnTo>
                  <a:pt x="0" y="271569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9879916" y="5586798"/>
            <a:ext cx="4077393" cy="4114800"/>
          </a:xfrm>
          <a:custGeom>
            <a:rect b="b" l="l" r="r" t="t"/>
            <a:pathLst>
              <a:path extrusionOk="0" h="4114800" w="4077393">
                <a:moveTo>
                  <a:pt x="0" y="0"/>
                </a:moveTo>
                <a:lnTo>
                  <a:pt x="4077393" y="0"/>
                </a:lnTo>
                <a:lnTo>
                  <a:pt x="40773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10"/>
          <p:cNvGrpSpPr/>
          <p:nvPr/>
        </p:nvGrpSpPr>
        <p:grpSpPr>
          <a:xfrm>
            <a:off x="-655384" y="-331856"/>
            <a:ext cx="9260193" cy="10806051"/>
            <a:chOff x="0" y="-38100"/>
            <a:chExt cx="2719594" cy="2846038"/>
          </a:xfrm>
        </p:grpSpPr>
        <p:sp>
          <p:nvSpPr>
            <p:cNvPr id="265" name="Google Shape;265;p10"/>
            <p:cNvSpPr/>
            <p:nvPr/>
          </p:nvSpPr>
          <p:spPr>
            <a:xfrm>
              <a:off x="0" y="0"/>
              <a:ext cx="2719593" cy="2807938"/>
            </a:xfrm>
            <a:custGeom>
              <a:rect b="b" l="l" r="r" t="t"/>
              <a:pathLst>
                <a:path extrusionOk="0" h="2807938" w="2719593">
                  <a:moveTo>
                    <a:pt x="0" y="0"/>
                  </a:moveTo>
                  <a:lnTo>
                    <a:pt x="2719593" y="0"/>
                  </a:lnTo>
                  <a:lnTo>
                    <a:pt x="2719593" y="2807938"/>
                  </a:lnTo>
                  <a:lnTo>
                    <a:pt x="0" y="2807938"/>
                  </a:lnTo>
                  <a:close/>
                </a:path>
              </a:pathLst>
            </a:custGeom>
            <a:solidFill>
              <a:srgbClr val="EECACA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0"/>
            <p:cNvSpPr txBox="1"/>
            <p:nvPr/>
          </p:nvSpPr>
          <p:spPr>
            <a:xfrm>
              <a:off x="0" y="-38100"/>
              <a:ext cx="2719594" cy="28460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" name="Google Shape;267;p10"/>
          <p:cNvSpPr txBox="1"/>
          <p:nvPr/>
        </p:nvSpPr>
        <p:spPr>
          <a:xfrm>
            <a:off x="705507" y="1457511"/>
            <a:ext cx="8692501" cy="23148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39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379">
                <a:solidFill>
                  <a:srgbClr val="000000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Stack tecnológico</a:t>
            </a:r>
            <a:endParaRPr sz="9379">
              <a:solidFill>
                <a:srgbClr val="000000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269" name="Google Shape;269;p10"/>
          <p:cNvSpPr txBox="1"/>
          <p:nvPr/>
        </p:nvSpPr>
        <p:spPr>
          <a:xfrm>
            <a:off x="16130503" y="9378792"/>
            <a:ext cx="1465866" cy="578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7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  <p:sp>
        <p:nvSpPr>
          <p:cNvPr id="270" name="Google Shape;270;p10"/>
          <p:cNvSpPr txBox="1"/>
          <p:nvPr/>
        </p:nvSpPr>
        <p:spPr>
          <a:xfrm>
            <a:off x="6895698" y="7687668"/>
            <a:ext cx="4518097" cy="1503745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00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Frontend:</a:t>
            </a:r>
            <a:endParaRPr/>
          </a:p>
          <a:p>
            <a:pPr indent="0" lvl="0" marL="0" marR="0" rtl="0" algn="ctr">
              <a:lnSpc>
                <a:spcPct val="200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Django Templates + CSS + Boostrap</a:t>
            </a:r>
            <a:endParaRPr sz="2000">
              <a:solidFill>
                <a:srgbClr val="000000"/>
              </a:solidFill>
              <a:highlight>
                <a:srgbClr val="94D4C4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0"/>
          <p:cNvSpPr txBox="1"/>
          <p:nvPr/>
        </p:nvSpPr>
        <p:spPr>
          <a:xfrm>
            <a:off x="7686772" y="585402"/>
            <a:ext cx="4724400" cy="1334661"/>
          </a:xfrm>
          <a:prstGeom prst="rect">
            <a:avLst/>
          </a:prstGeom>
          <a:noFill/>
          <a:ln>
            <a:noFill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Backend: Django (Python),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Modelo MVT, ORM para accesos a datos</a:t>
            </a:r>
            <a:endParaRPr sz="2000">
              <a:solidFill>
                <a:srgbClr val="000000"/>
              </a:solidFill>
              <a:highlight>
                <a:srgbClr val="94D4C4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15238904" y="1236516"/>
            <a:ext cx="2594366" cy="3463353"/>
          </a:xfrm>
          <a:custGeom>
            <a:rect b="b" l="l" r="r" t="t"/>
            <a:pathLst>
              <a:path extrusionOk="0" h="3463353" w="2594366">
                <a:moveTo>
                  <a:pt x="0" y="0"/>
                </a:moveTo>
                <a:lnTo>
                  <a:pt x="2594366" y="0"/>
                </a:lnTo>
                <a:lnTo>
                  <a:pt x="2594366" y="3463353"/>
                </a:lnTo>
                <a:lnTo>
                  <a:pt x="0" y="34633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0"/>
          <p:cNvSpPr txBox="1"/>
          <p:nvPr/>
        </p:nvSpPr>
        <p:spPr>
          <a:xfrm>
            <a:off x="13955034" y="4064193"/>
            <a:ext cx="2715693" cy="990784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00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Base de datos:</a:t>
            </a:r>
            <a:endParaRPr/>
          </a:p>
          <a:p>
            <a:pPr indent="0" lvl="0" marL="0" marR="0" rtl="0" algn="ctr">
              <a:lnSpc>
                <a:spcPct val="200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SQLite</a:t>
            </a:r>
            <a:endParaRPr/>
          </a:p>
        </p:txBody>
      </p:sp>
      <p:sp>
        <p:nvSpPr>
          <p:cNvPr id="274" name="Google Shape;274;p10"/>
          <p:cNvSpPr/>
          <p:nvPr/>
        </p:nvSpPr>
        <p:spPr>
          <a:xfrm rot="5400000">
            <a:off x="1985307" y="5377211"/>
            <a:ext cx="979946" cy="6124661"/>
          </a:xfrm>
          <a:custGeom>
            <a:rect b="b" l="l" r="r" t="t"/>
            <a:pathLst>
              <a:path extrusionOk="0" h="6124661" w="979946">
                <a:moveTo>
                  <a:pt x="0" y="0"/>
                </a:moveTo>
                <a:lnTo>
                  <a:pt x="979946" y="0"/>
                </a:lnTo>
                <a:lnTo>
                  <a:pt x="979946" y="6124661"/>
                </a:lnTo>
                <a:lnTo>
                  <a:pt x="0" y="61246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12688902" y="5836449"/>
            <a:ext cx="4174534" cy="1475725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00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Control de versions y colaboración: Git/GitHub, con ramas y trabajo iterativo</a:t>
            </a:r>
            <a:endParaRPr sz="2000">
              <a:solidFill>
                <a:srgbClr val="000000"/>
              </a:solidFill>
              <a:highlight>
                <a:srgbClr val="94D4C4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0"/>
          <p:cNvSpPr txBox="1"/>
          <p:nvPr/>
        </p:nvSpPr>
        <p:spPr>
          <a:xfrm>
            <a:off x="11481895" y="299163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277" name="Google Shape;277;p10"/>
          <p:cNvSpPr txBox="1"/>
          <p:nvPr/>
        </p:nvSpPr>
        <p:spPr>
          <a:xfrm>
            <a:off x="13552093" y="299163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278" name="Google Shape;278;p10"/>
          <p:cNvSpPr txBox="1"/>
          <p:nvPr/>
        </p:nvSpPr>
        <p:spPr>
          <a:xfrm>
            <a:off x="15622291" y="299163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279" name="Google Shape;279;p10"/>
          <p:cNvSpPr/>
          <p:nvPr/>
        </p:nvSpPr>
        <p:spPr>
          <a:xfrm>
            <a:off x="6838289" y="3830321"/>
            <a:ext cx="4025429" cy="1297487"/>
          </a:xfrm>
          <a:custGeom>
            <a:rect b="b" l="l" r="r" t="t"/>
            <a:pathLst>
              <a:path extrusionOk="0" h="2125929" w="6389404">
                <a:moveTo>
                  <a:pt x="0" y="0"/>
                </a:moveTo>
                <a:lnTo>
                  <a:pt x="6389404" y="0"/>
                </a:lnTo>
                <a:lnTo>
                  <a:pt x="6389404" y="2125929"/>
                </a:lnTo>
                <a:lnTo>
                  <a:pt x="0" y="212592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 txBox="1"/>
          <p:nvPr/>
        </p:nvSpPr>
        <p:spPr>
          <a:xfrm>
            <a:off x="4431847" y="4607958"/>
            <a:ext cx="3864525" cy="2001702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00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Herramientas de apoyo:</a:t>
            </a:r>
            <a:b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lang="en-US" sz="2000">
                <a:solidFill>
                  <a:srgbClr val="000000"/>
                </a:solidFill>
                <a:highlight>
                  <a:srgbClr val="94D4C4"/>
                </a:highlight>
                <a:latin typeface="Arial"/>
                <a:ea typeface="Arial"/>
                <a:cs typeface="Arial"/>
                <a:sym typeface="Arial"/>
              </a:rPr>
              <a:t>Trello para la gestion; extensions del navegador para UX y contraste</a:t>
            </a:r>
            <a:endParaRPr sz="2000">
              <a:solidFill>
                <a:srgbClr val="000000"/>
              </a:solidFill>
              <a:highlight>
                <a:srgbClr val="94D4C4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Google Shape;285;p11"/>
          <p:cNvGrpSpPr/>
          <p:nvPr/>
        </p:nvGrpSpPr>
        <p:grpSpPr>
          <a:xfrm>
            <a:off x="-764326" y="3201270"/>
            <a:ext cx="20327088" cy="5650442"/>
            <a:chOff x="0" y="-38100"/>
            <a:chExt cx="5353636" cy="1488182"/>
          </a:xfrm>
        </p:grpSpPr>
        <p:sp>
          <p:nvSpPr>
            <p:cNvPr id="286" name="Google Shape;286;p11"/>
            <p:cNvSpPr/>
            <p:nvPr/>
          </p:nvSpPr>
          <p:spPr>
            <a:xfrm>
              <a:off x="0" y="0"/>
              <a:ext cx="5353636" cy="1450082"/>
            </a:xfrm>
            <a:custGeom>
              <a:rect b="b" l="l" r="r" t="t"/>
              <a:pathLst>
                <a:path extrusionOk="0" h="1450082" w="5353636">
                  <a:moveTo>
                    <a:pt x="0" y="0"/>
                  </a:moveTo>
                  <a:lnTo>
                    <a:pt x="5353636" y="0"/>
                  </a:lnTo>
                  <a:lnTo>
                    <a:pt x="5353636" y="1450082"/>
                  </a:lnTo>
                  <a:lnTo>
                    <a:pt x="0" y="1450082"/>
                  </a:lnTo>
                  <a:close/>
                </a:path>
              </a:pathLst>
            </a:custGeom>
            <a:solidFill>
              <a:srgbClr val="94D4C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7" name="Google Shape;287;p11"/>
            <p:cNvSpPr txBox="1"/>
            <p:nvPr/>
          </p:nvSpPr>
          <p:spPr>
            <a:xfrm>
              <a:off x="0" y="-38100"/>
              <a:ext cx="5353636" cy="14881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2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Google Shape;288;p11"/>
          <p:cNvSpPr/>
          <p:nvPr/>
        </p:nvSpPr>
        <p:spPr>
          <a:xfrm rot="-5400000">
            <a:off x="10534073" y="3510457"/>
            <a:ext cx="986062" cy="3766209"/>
          </a:xfrm>
          <a:custGeom>
            <a:rect b="b" l="l" r="r" t="t"/>
            <a:pathLst>
              <a:path extrusionOk="0" h="3766209" w="986062">
                <a:moveTo>
                  <a:pt x="0" y="0"/>
                </a:moveTo>
                <a:lnTo>
                  <a:pt x="986062" y="0"/>
                </a:lnTo>
                <a:lnTo>
                  <a:pt x="986062" y="3766209"/>
                </a:lnTo>
                <a:lnTo>
                  <a:pt x="0" y="37662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/>
          <p:nvPr/>
        </p:nvSpPr>
        <p:spPr>
          <a:xfrm>
            <a:off x="11539821" y="2043385"/>
            <a:ext cx="6390652" cy="6449282"/>
          </a:xfrm>
          <a:custGeom>
            <a:rect b="b" l="l" r="r" t="t"/>
            <a:pathLst>
              <a:path extrusionOk="0" h="6449282" w="6390652">
                <a:moveTo>
                  <a:pt x="0" y="0"/>
                </a:moveTo>
                <a:lnTo>
                  <a:pt x="6390651" y="0"/>
                </a:lnTo>
                <a:lnTo>
                  <a:pt x="6390651" y="6449282"/>
                </a:lnTo>
                <a:lnTo>
                  <a:pt x="0" y="644928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11628382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Home</a:t>
            </a:r>
            <a:endParaRPr/>
          </a:p>
        </p:txBody>
      </p:sp>
      <p:sp>
        <p:nvSpPr>
          <p:cNvPr id="291" name="Google Shape;291;p11"/>
          <p:cNvSpPr txBox="1"/>
          <p:nvPr/>
        </p:nvSpPr>
        <p:spPr>
          <a:xfrm>
            <a:off x="13698581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  <a:endParaRPr/>
          </a:p>
        </p:txBody>
      </p:sp>
      <p:sp>
        <p:nvSpPr>
          <p:cNvPr id="292" name="Google Shape;292;p11"/>
          <p:cNvSpPr txBox="1"/>
          <p:nvPr/>
        </p:nvSpPr>
        <p:spPr>
          <a:xfrm>
            <a:off x="15768779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About Us</a:t>
            </a: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1028700" y="755015"/>
            <a:ext cx="1827591" cy="2736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Thynk Unlimited</a:t>
            </a:r>
            <a:endParaRPr/>
          </a:p>
        </p:txBody>
      </p:sp>
      <p:sp>
        <p:nvSpPr>
          <p:cNvPr id="294" name="Google Shape;294;p11"/>
          <p:cNvSpPr txBox="1"/>
          <p:nvPr/>
        </p:nvSpPr>
        <p:spPr>
          <a:xfrm>
            <a:off x="16130503" y="9378792"/>
            <a:ext cx="1465866" cy="578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7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295" name="Google Shape;295;p11"/>
          <p:cNvSpPr/>
          <p:nvPr/>
        </p:nvSpPr>
        <p:spPr>
          <a:xfrm rot="5400000">
            <a:off x="754409" y="5896602"/>
            <a:ext cx="1077329" cy="4114800"/>
          </a:xfrm>
          <a:custGeom>
            <a:rect b="b" l="l" r="r" t="t"/>
            <a:pathLst>
              <a:path extrusionOk="0" h="4114800" w="1077329">
                <a:moveTo>
                  <a:pt x="0" y="0"/>
                </a:moveTo>
                <a:lnTo>
                  <a:pt x="1077330" y="0"/>
                </a:lnTo>
                <a:lnTo>
                  <a:pt x="10773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4123736" y="2505714"/>
            <a:ext cx="6908274" cy="5840632"/>
          </a:xfrm>
          <a:custGeom>
            <a:rect b="b" l="l" r="r" t="t"/>
            <a:pathLst>
              <a:path extrusionOk="0" h="5840632" w="6908274">
                <a:moveTo>
                  <a:pt x="0" y="0"/>
                </a:moveTo>
                <a:lnTo>
                  <a:pt x="6908274" y="0"/>
                </a:lnTo>
                <a:lnTo>
                  <a:pt x="6908274" y="5840631"/>
                </a:lnTo>
                <a:lnTo>
                  <a:pt x="0" y="58406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 txBox="1"/>
          <p:nvPr/>
        </p:nvSpPr>
        <p:spPr>
          <a:xfrm>
            <a:off x="4736435" y="4102889"/>
            <a:ext cx="5908610" cy="17837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30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49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Gracias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